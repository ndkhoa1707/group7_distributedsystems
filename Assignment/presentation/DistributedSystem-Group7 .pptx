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Montserrat Bold" charset="1" panose="00000800000000000000"/>
      <p:regular r:id="rId23"/>
    </p:embeddedFont>
    <p:embeddedFont>
      <p:font typeface="Stinger Italics" charset="1" panose="00000500000000000000"/>
      <p:regular r:id="rId24"/>
    </p:embeddedFont>
    <p:embeddedFont>
      <p:font typeface="Stinger Bold" charset="1" panose="00000800000000000000"/>
      <p:regular r:id="rId25"/>
    </p:embeddedFont>
    <p:embeddedFont>
      <p:font typeface="Stinger" charset="1" panose="00000500000000000000"/>
      <p:regular r:id="rId26"/>
    </p:embeddedFont>
    <p:embeddedFont>
      <p:font typeface="Montserrat" charset="1" panose="00000500000000000000"/>
      <p:regular r:id="rId27"/>
    </p:embeddedFont>
    <p:embeddedFont>
      <p:font typeface="Montserrat Medium" charset="1" panose="000006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6.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7.png" Type="http://schemas.openxmlformats.org/officeDocument/2006/relationships/image"/><Relationship Id="rId7" Target="../embeddings/oleObject1.bin" Type="http://schemas.openxmlformats.org/officeDocument/2006/relationships/oleObject"/><Relationship Id="rId8"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9.png" Type="http://schemas.openxmlformats.org/officeDocument/2006/relationships/image"/><Relationship Id="rId9" Target="../embeddings/oleObject2.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20.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21.png" Type="http://schemas.openxmlformats.org/officeDocument/2006/relationships/image"/><Relationship Id="rId8" Target="../embeddings/oleObject3.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0">
            <a:off x="1028700" y="6186068"/>
            <a:ext cx="4277019" cy="47625"/>
            <a:chOff x="0" y="0"/>
            <a:chExt cx="1126458" cy="12543"/>
          </a:xfrm>
        </p:grpSpPr>
        <p:sp>
          <p:nvSpPr>
            <p:cNvPr name="Freeform 3" id="3"/>
            <p:cNvSpPr/>
            <p:nvPr/>
          </p:nvSpPr>
          <p:spPr>
            <a:xfrm flipH="false" flipV="false" rot="0">
              <a:off x="0" y="0"/>
              <a:ext cx="1126458" cy="12543"/>
            </a:xfrm>
            <a:custGeom>
              <a:avLst/>
              <a:gdLst/>
              <a:ahLst/>
              <a:cxnLst/>
              <a:rect r="r" b="b" t="t" l="l"/>
              <a:pathLst>
                <a:path h="12543" w="1126458">
                  <a:moveTo>
                    <a:pt x="0" y="0"/>
                  </a:moveTo>
                  <a:lnTo>
                    <a:pt x="1126458" y="0"/>
                  </a:lnTo>
                  <a:lnTo>
                    <a:pt x="1126458" y="12543"/>
                  </a:lnTo>
                  <a:lnTo>
                    <a:pt x="0" y="12543"/>
                  </a:lnTo>
                  <a:close/>
                </a:path>
              </a:pathLst>
            </a:custGeom>
            <a:solidFill>
              <a:srgbClr val="1C53A3"/>
            </a:solidFill>
          </p:spPr>
        </p:sp>
        <p:sp>
          <p:nvSpPr>
            <p:cNvPr name="TextBox 4" id="4"/>
            <p:cNvSpPr txBox="true"/>
            <p:nvPr/>
          </p:nvSpPr>
          <p:spPr>
            <a:xfrm>
              <a:off x="0" y="-38100"/>
              <a:ext cx="1126458" cy="5064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714501" y="4362296"/>
            <a:ext cx="11083630" cy="5924704"/>
          </a:xfrm>
          <a:custGeom>
            <a:avLst/>
            <a:gdLst/>
            <a:ahLst/>
            <a:cxnLst/>
            <a:rect r="r" b="b" t="t" l="l"/>
            <a:pathLst>
              <a:path h="5924704" w="11083630">
                <a:moveTo>
                  <a:pt x="0" y="0"/>
                </a:moveTo>
                <a:lnTo>
                  <a:pt x="11083630" y="0"/>
                </a:lnTo>
                <a:lnTo>
                  <a:pt x="11083630" y="5924704"/>
                </a:lnTo>
                <a:lnTo>
                  <a:pt x="0" y="59247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3018856"/>
            <a:ext cx="12745373" cy="1905701"/>
          </a:xfrm>
          <a:prstGeom prst="rect">
            <a:avLst/>
          </a:prstGeom>
        </p:spPr>
        <p:txBody>
          <a:bodyPr anchor="t" rtlCol="false" tIns="0" lIns="0" bIns="0" rIns="0">
            <a:spAutoFit/>
          </a:bodyPr>
          <a:lstStyle/>
          <a:p>
            <a:pPr algn="l">
              <a:lnSpc>
                <a:spcPts val="7419"/>
              </a:lnSpc>
            </a:pPr>
            <a:r>
              <a:rPr lang="en-US" b="true" sz="6999">
                <a:solidFill>
                  <a:srgbClr val="1C53A3"/>
                </a:solidFill>
                <a:latin typeface="Montserrat Bold"/>
                <a:ea typeface="Montserrat Bold"/>
                <a:cs typeface="Montserrat Bold"/>
                <a:sym typeface="Montserrat Bold"/>
              </a:rPr>
              <a:t>ỨNG DỤNG TRÒ CHUYỆN THEO MÔ HÌNH PHÂN TÁN </a:t>
            </a:r>
          </a:p>
        </p:txBody>
      </p:sp>
      <p:sp>
        <p:nvSpPr>
          <p:cNvPr name="TextBox 7" id="7"/>
          <p:cNvSpPr txBox="true"/>
          <p:nvPr/>
        </p:nvSpPr>
        <p:spPr>
          <a:xfrm rot="0">
            <a:off x="1028700" y="5029200"/>
            <a:ext cx="8852072" cy="937793"/>
          </a:xfrm>
          <a:prstGeom prst="rect">
            <a:avLst/>
          </a:prstGeom>
        </p:spPr>
        <p:txBody>
          <a:bodyPr anchor="t" rtlCol="false" tIns="0" lIns="0" bIns="0" rIns="0">
            <a:spAutoFit/>
          </a:bodyPr>
          <a:lstStyle/>
          <a:p>
            <a:pPr algn="l">
              <a:lnSpc>
                <a:spcPts val="7634"/>
              </a:lnSpc>
            </a:pPr>
            <a:r>
              <a:rPr lang="en-US" sz="5453" i="true">
                <a:solidFill>
                  <a:srgbClr val="1C53A3"/>
                </a:solidFill>
                <a:latin typeface="Stinger Italics"/>
                <a:ea typeface="Stinger Italics"/>
                <a:cs typeface="Stinger Italics"/>
                <a:sym typeface="Stinger Italics"/>
              </a:rPr>
              <a:t>PEER - TO - PEER (P2P)</a:t>
            </a:r>
          </a:p>
        </p:txBody>
      </p:sp>
      <p:sp>
        <p:nvSpPr>
          <p:cNvPr name="Freeform 8" id="8"/>
          <p:cNvSpPr/>
          <p:nvPr/>
        </p:nvSpPr>
        <p:spPr>
          <a:xfrm flipH="false" flipV="false" rot="0">
            <a:off x="1258810" y="1155451"/>
            <a:ext cx="854383" cy="994915"/>
          </a:xfrm>
          <a:custGeom>
            <a:avLst/>
            <a:gdLst/>
            <a:ahLst/>
            <a:cxnLst/>
            <a:rect r="r" b="b" t="t" l="l"/>
            <a:pathLst>
              <a:path h="994915" w="854383">
                <a:moveTo>
                  <a:pt x="0" y="0"/>
                </a:moveTo>
                <a:lnTo>
                  <a:pt x="854383" y="0"/>
                </a:lnTo>
                <a:lnTo>
                  <a:pt x="854383" y="994914"/>
                </a:lnTo>
                <a:lnTo>
                  <a:pt x="0" y="9949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5195150">
            <a:off x="8676586" y="2155082"/>
            <a:ext cx="13691661" cy="7990951"/>
          </a:xfrm>
          <a:custGeom>
            <a:avLst/>
            <a:gdLst/>
            <a:ahLst/>
            <a:cxnLst/>
            <a:rect r="r" b="b" t="t" l="l"/>
            <a:pathLst>
              <a:path h="7990951" w="13691661">
                <a:moveTo>
                  <a:pt x="0" y="0"/>
                </a:moveTo>
                <a:lnTo>
                  <a:pt x="13691661" y="0"/>
                </a:lnTo>
                <a:lnTo>
                  <a:pt x="13691661" y="7990951"/>
                </a:lnTo>
                <a:lnTo>
                  <a:pt x="0" y="7990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651173" y="3099620"/>
            <a:ext cx="854383" cy="994915"/>
          </a:xfrm>
          <a:custGeom>
            <a:avLst/>
            <a:gdLst/>
            <a:ahLst/>
            <a:cxnLst/>
            <a:rect r="r" b="b" t="t" l="l"/>
            <a:pathLst>
              <a:path h="994915" w="854383">
                <a:moveTo>
                  <a:pt x="0" y="0"/>
                </a:moveTo>
                <a:lnTo>
                  <a:pt x="854383" y="0"/>
                </a:lnTo>
                <a:lnTo>
                  <a:pt x="854383" y="994915"/>
                </a:lnTo>
                <a:lnTo>
                  <a:pt x="0" y="9949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956373"/>
            <a:ext cx="11930407" cy="1146505"/>
          </a:xfrm>
          <a:prstGeom prst="rect">
            <a:avLst/>
          </a:prstGeom>
        </p:spPr>
        <p:txBody>
          <a:bodyPr anchor="t" rtlCol="false" tIns="0" lIns="0" bIns="0" rIns="0">
            <a:spAutoFit/>
          </a:bodyPr>
          <a:lstStyle/>
          <a:p>
            <a:pPr algn="l">
              <a:lnSpc>
                <a:spcPts val="8727"/>
              </a:lnSpc>
            </a:pPr>
            <a:r>
              <a:rPr lang="en-US" b="true" sz="8233">
                <a:solidFill>
                  <a:srgbClr val="FFFFFF"/>
                </a:solidFill>
                <a:latin typeface="Stinger Bold"/>
                <a:ea typeface="Stinger Bold"/>
                <a:cs typeface="Stinger Bold"/>
                <a:sym typeface="Stinger Bold"/>
              </a:rPr>
              <a:t>THÀNH VIÊN NHÓM</a:t>
            </a:r>
          </a:p>
        </p:txBody>
      </p:sp>
      <p:sp>
        <p:nvSpPr>
          <p:cNvPr name="TextBox 5" id="5"/>
          <p:cNvSpPr txBox="true"/>
          <p:nvPr/>
        </p:nvSpPr>
        <p:spPr>
          <a:xfrm rot="0">
            <a:off x="1132509" y="2695269"/>
            <a:ext cx="4711347" cy="556878"/>
          </a:xfrm>
          <a:prstGeom prst="rect">
            <a:avLst/>
          </a:prstGeom>
        </p:spPr>
        <p:txBody>
          <a:bodyPr anchor="t" rtlCol="false" tIns="0" lIns="0" bIns="0" rIns="0">
            <a:spAutoFit/>
          </a:bodyPr>
          <a:lstStyle/>
          <a:p>
            <a:pPr algn="l">
              <a:lnSpc>
                <a:spcPts val="4239"/>
              </a:lnSpc>
            </a:pPr>
            <a:r>
              <a:rPr lang="en-US" sz="3999" b="true">
                <a:solidFill>
                  <a:srgbClr val="FFFFFF"/>
                </a:solidFill>
                <a:latin typeface="Stinger Bold"/>
                <a:ea typeface="Stinger Bold"/>
                <a:cs typeface="Stinger Bold"/>
                <a:sym typeface="Stinger Bold"/>
              </a:rPr>
              <a:t>Nguyễn Đăng Khoa</a:t>
            </a:r>
          </a:p>
        </p:txBody>
      </p:sp>
      <p:sp>
        <p:nvSpPr>
          <p:cNvPr name="TextBox 6" id="6"/>
          <p:cNvSpPr txBox="true"/>
          <p:nvPr/>
        </p:nvSpPr>
        <p:spPr>
          <a:xfrm rot="0">
            <a:off x="1132509" y="3537656"/>
            <a:ext cx="4711347" cy="556878"/>
          </a:xfrm>
          <a:prstGeom prst="rect">
            <a:avLst/>
          </a:prstGeom>
        </p:spPr>
        <p:txBody>
          <a:bodyPr anchor="t" rtlCol="false" tIns="0" lIns="0" bIns="0" rIns="0">
            <a:spAutoFit/>
          </a:bodyPr>
          <a:lstStyle/>
          <a:p>
            <a:pPr algn="l">
              <a:lnSpc>
                <a:spcPts val="4239"/>
              </a:lnSpc>
            </a:pPr>
            <a:r>
              <a:rPr lang="en-US" sz="3999" b="true">
                <a:solidFill>
                  <a:srgbClr val="FFFFFF"/>
                </a:solidFill>
                <a:latin typeface="Stinger Bold"/>
                <a:ea typeface="Stinger Bold"/>
                <a:cs typeface="Stinger Bold"/>
                <a:sym typeface="Stinger Bold"/>
              </a:rPr>
              <a:t>Hoàng Tiến Quyết</a:t>
            </a:r>
          </a:p>
        </p:txBody>
      </p:sp>
      <p:sp>
        <p:nvSpPr>
          <p:cNvPr name="TextBox 7" id="7"/>
          <p:cNvSpPr txBox="true"/>
          <p:nvPr/>
        </p:nvSpPr>
        <p:spPr>
          <a:xfrm rot="0">
            <a:off x="1132509" y="4380285"/>
            <a:ext cx="4711347" cy="556878"/>
          </a:xfrm>
          <a:prstGeom prst="rect">
            <a:avLst/>
          </a:prstGeom>
        </p:spPr>
        <p:txBody>
          <a:bodyPr anchor="t" rtlCol="false" tIns="0" lIns="0" bIns="0" rIns="0">
            <a:spAutoFit/>
          </a:bodyPr>
          <a:lstStyle/>
          <a:p>
            <a:pPr algn="l">
              <a:lnSpc>
                <a:spcPts val="4239"/>
              </a:lnSpc>
            </a:pPr>
            <a:r>
              <a:rPr lang="en-US" sz="3999" b="true">
                <a:solidFill>
                  <a:srgbClr val="FFFFFF"/>
                </a:solidFill>
                <a:latin typeface="Stinger Bold"/>
                <a:ea typeface="Stinger Bold"/>
                <a:cs typeface="Stinger Bold"/>
                <a:sym typeface="Stinger Bold"/>
              </a:rPr>
              <a:t>Lê Đình Hiếu</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9428196">
            <a:off x="-2413913" y="-3257279"/>
            <a:ext cx="13691661" cy="7990951"/>
          </a:xfrm>
          <a:custGeom>
            <a:avLst/>
            <a:gdLst/>
            <a:ahLst/>
            <a:cxnLst/>
            <a:rect r="r" b="b" t="t" l="l"/>
            <a:pathLst>
              <a:path h="7990951" w="13691661">
                <a:moveTo>
                  <a:pt x="0" y="0"/>
                </a:moveTo>
                <a:lnTo>
                  <a:pt x="13691661" y="0"/>
                </a:lnTo>
                <a:lnTo>
                  <a:pt x="13691661" y="7990951"/>
                </a:lnTo>
                <a:lnTo>
                  <a:pt x="0" y="7990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120196" y="3190691"/>
            <a:ext cx="6139104" cy="4435805"/>
            <a:chOff x="0" y="0"/>
            <a:chExt cx="1124906" cy="812800"/>
          </a:xfrm>
        </p:grpSpPr>
        <p:sp>
          <p:nvSpPr>
            <p:cNvPr name="Freeform 4" id="4"/>
            <p:cNvSpPr/>
            <p:nvPr/>
          </p:nvSpPr>
          <p:spPr>
            <a:xfrm flipH="false" flipV="false" rot="0">
              <a:off x="0" y="0"/>
              <a:ext cx="1124906" cy="812800"/>
            </a:xfrm>
            <a:custGeom>
              <a:avLst/>
              <a:gdLst/>
              <a:ahLst/>
              <a:cxnLst/>
              <a:rect r="r" b="b" t="t" l="l"/>
              <a:pathLst>
                <a:path h="812800" w="1124906">
                  <a:moveTo>
                    <a:pt x="0" y="0"/>
                  </a:moveTo>
                  <a:lnTo>
                    <a:pt x="1124906" y="0"/>
                  </a:lnTo>
                  <a:lnTo>
                    <a:pt x="1124906" y="812800"/>
                  </a:lnTo>
                  <a:lnTo>
                    <a:pt x="0" y="812800"/>
                  </a:lnTo>
                  <a:close/>
                </a:path>
              </a:pathLst>
            </a:custGeom>
            <a:blipFill>
              <a:blip r:embed="rId4"/>
              <a:stretch>
                <a:fillRect l="-14316" t="0" r="-14316" b="0"/>
              </a:stretch>
            </a:blipFill>
          </p:spPr>
        </p:sp>
      </p:grpSp>
      <p:sp>
        <p:nvSpPr>
          <p:cNvPr name="Freeform 5" id="5"/>
          <p:cNvSpPr/>
          <p:nvPr/>
        </p:nvSpPr>
        <p:spPr>
          <a:xfrm flipH="false" flipV="false" rot="0">
            <a:off x="9144000" y="881007"/>
            <a:ext cx="854383" cy="994915"/>
          </a:xfrm>
          <a:custGeom>
            <a:avLst/>
            <a:gdLst/>
            <a:ahLst/>
            <a:cxnLst/>
            <a:rect r="r" b="b" t="t" l="l"/>
            <a:pathLst>
              <a:path h="994915" w="854383">
                <a:moveTo>
                  <a:pt x="0" y="0"/>
                </a:moveTo>
                <a:lnTo>
                  <a:pt x="854383" y="0"/>
                </a:lnTo>
                <a:lnTo>
                  <a:pt x="854383" y="994914"/>
                </a:lnTo>
                <a:lnTo>
                  <a:pt x="0" y="9949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416573" y="3426177"/>
            <a:ext cx="8942501" cy="1113824"/>
          </a:xfrm>
          <a:prstGeom prst="rect">
            <a:avLst/>
          </a:prstGeom>
        </p:spPr>
        <p:txBody>
          <a:bodyPr anchor="t" rtlCol="false" tIns="0" lIns="0" bIns="0" rIns="0">
            <a:spAutoFit/>
          </a:bodyPr>
          <a:lstStyle/>
          <a:p>
            <a:pPr algn="l">
              <a:lnSpc>
                <a:spcPts val="8480"/>
              </a:lnSpc>
            </a:pPr>
            <a:r>
              <a:rPr lang="en-US" sz="8000">
                <a:solidFill>
                  <a:srgbClr val="FFFFFF"/>
                </a:solidFill>
                <a:latin typeface="Stinger"/>
                <a:ea typeface="Stinger"/>
                <a:cs typeface="Stinger"/>
                <a:sym typeface="Stinger"/>
              </a:rPr>
              <a:t>GIỚI THIỆU ĐỀ TÀI</a:t>
            </a:r>
          </a:p>
        </p:txBody>
      </p:sp>
      <p:sp>
        <p:nvSpPr>
          <p:cNvPr name="TextBox 7" id="7"/>
          <p:cNvSpPr txBox="true"/>
          <p:nvPr/>
        </p:nvSpPr>
        <p:spPr>
          <a:xfrm rot="0">
            <a:off x="1567852" y="4787520"/>
            <a:ext cx="8942501" cy="2292090"/>
          </a:xfrm>
          <a:prstGeom prst="rect">
            <a:avLst/>
          </a:prstGeom>
        </p:spPr>
        <p:txBody>
          <a:bodyPr anchor="t" rtlCol="false" tIns="0" lIns="0" bIns="0" rIns="0">
            <a:spAutoFit/>
          </a:bodyPr>
          <a:lstStyle/>
          <a:p>
            <a:pPr algn="l">
              <a:lnSpc>
                <a:spcPts val="6133"/>
              </a:lnSpc>
            </a:pPr>
            <a:r>
              <a:rPr lang="en-US" sz="4088">
                <a:solidFill>
                  <a:srgbClr val="FFFFFF"/>
                </a:solidFill>
                <a:latin typeface="Stinger"/>
                <a:ea typeface="Stinger"/>
                <a:cs typeface="Stinger"/>
                <a:sym typeface="Stinger"/>
              </a:rPr>
              <a:t>“Ứng dụng trò chuyện trực tiếp giữa 2 thiết bị (peer) sử dụng mô hình P2P”</a:t>
            </a:r>
          </a:p>
          <a:p>
            <a:pPr algn="l">
              <a:lnSpc>
                <a:spcPts val="6133"/>
              </a:lnSpc>
            </a:pPr>
          </a:p>
        </p:txBody>
      </p:sp>
      <p:sp>
        <p:nvSpPr>
          <p:cNvPr name="TextBox 8" id="8"/>
          <p:cNvSpPr txBox="true"/>
          <p:nvPr/>
        </p:nvSpPr>
        <p:spPr>
          <a:xfrm rot="0">
            <a:off x="1416573" y="2207578"/>
            <a:ext cx="1608136" cy="1113824"/>
          </a:xfrm>
          <a:prstGeom prst="rect">
            <a:avLst/>
          </a:prstGeom>
        </p:spPr>
        <p:txBody>
          <a:bodyPr anchor="t" rtlCol="false" tIns="0" lIns="0" bIns="0" rIns="0">
            <a:spAutoFit/>
          </a:bodyPr>
          <a:lstStyle/>
          <a:p>
            <a:pPr algn="l">
              <a:lnSpc>
                <a:spcPts val="8480"/>
              </a:lnSpc>
            </a:pPr>
            <a:r>
              <a:rPr lang="en-US" sz="8000" b="true">
                <a:solidFill>
                  <a:srgbClr val="FFFFFF"/>
                </a:solidFill>
                <a:latin typeface="Stinger Bold"/>
                <a:ea typeface="Stinger Bold"/>
                <a:cs typeface="Stinger Bold"/>
                <a:sym typeface="Stinger Bold"/>
              </a:rPr>
              <a:t>01.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4466992">
            <a:off x="12956278" y="-1374835"/>
            <a:ext cx="13691661" cy="7990951"/>
          </a:xfrm>
          <a:custGeom>
            <a:avLst/>
            <a:gdLst/>
            <a:ahLst/>
            <a:cxnLst/>
            <a:rect r="r" b="b" t="t" l="l"/>
            <a:pathLst>
              <a:path h="7990951" w="13691661">
                <a:moveTo>
                  <a:pt x="0" y="0"/>
                </a:moveTo>
                <a:lnTo>
                  <a:pt x="13691661" y="0"/>
                </a:lnTo>
                <a:lnTo>
                  <a:pt x="13691661" y="7990951"/>
                </a:lnTo>
                <a:lnTo>
                  <a:pt x="0" y="7990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148668"/>
            <a:ext cx="18969026" cy="3869139"/>
            <a:chOff x="0" y="0"/>
            <a:chExt cx="4995957" cy="1019033"/>
          </a:xfrm>
        </p:grpSpPr>
        <p:sp>
          <p:nvSpPr>
            <p:cNvPr name="Freeform 4" id="4"/>
            <p:cNvSpPr/>
            <p:nvPr/>
          </p:nvSpPr>
          <p:spPr>
            <a:xfrm flipH="false" flipV="false" rot="0">
              <a:off x="0" y="0"/>
              <a:ext cx="4995957" cy="1019033"/>
            </a:xfrm>
            <a:custGeom>
              <a:avLst/>
              <a:gdLst/>
              <a:ahLst/>
              <a:cxnLst/>
              <a:rect r="r" b="b" t="t" l="l"/>
              <a:pathLst>
                <a:path h="1019033" w="4995957">
                  <a:moveTo>
                    <a:pt x="0" y="0"/>
                  </a:moveTo>
                  <a:lnTo>
                    <a:pt x="4995957" y="0"/>
                  </a:lnTo>
                  <a:lnTo>
                    <a:pt x="4995957" y="1019033"/>
                  </a:lnTo>
                  <a:lnTo>
                    <a:pt x="0" y="1019033"/>
                  </a:lnTo>
                  <a:close/>
                </a:path>
              </a:pathLst>
            </a:custGeom>
            <a:solidFill>
              <a:srgbClr val="FFFFFF"/>
            </a:solidFill>
          </p:spPr>
        </p:sp>
        <p:sp>
          <p:nvSpPr>
            <p:cNvPr name="TextBox 5" id="5"/>
            <p:cNvSpPr txBox="true"/>
            <p:nvPr/>
          </p:nvSpPr>
          <p:spPr>
            <a:xfrm>
              <a:off x="0" y="-38100"/>
              <a:ext cx="4995957" cy="1057133"/>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7130403">
            <a:off x="-8285664" y="4151387"/>
            <a:ext cx="13691661" cy="7990951"/>
          </a:xfrm>
          <a:custGeom>
            <a:avLst/>
            <a:gdLst/>
            <a:ahLst/>
            <a:cxnLst/>
            <a:rect r="r" b="b" t="t" l="l"/>
            <a:pathLst>
              <a:path h="7990951" w="13691661">
                <a:moveTo>
                  <a:pt x="0" y="0"/>
                </a:moveTo>
                <a:lnTo>
                  <a:pt x="13691661" y="0"/>
                </a:lnTo>
                <a:lnTo>
                  <a:pt x="13691661" y="7990951"/>
                </a:lnTo>
                <a:lnTo>
                  <a:pt x="0" y="7990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068965" y="1625725"/>
            <a:ext cx="854383" cy="994915"/>
          </a:xfrm>
          <a:custGeom>
            <a:avLst/>
            <a:gdLst/>
            <a:ahLst/>
            <a:cxnLst/>
            <a:rect r="r" b="b" t="t" l="l"/>
            <a:pathLst>
              <a:path h="994915" w="854383">
                <a:moveTo>
                  <a:pt x="0" y="0"/>
                </a:moveTo>
                <a:lnTo>
                  <a:pt x="854383" y="0"/>
                </a:lnTo>
                <a:lnTo>
                  <a:pt x="854383" y="994915"/>
                </a:lnTo>
                <a:lnTo>
                  <a:pt x="0" y="9949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884173" y="9031499"/>
            <a:ext cx="854383" cy="994915"/>
          </a:xfrm>
          <a:custGeom>
            <a:avLst/>
            <a:gdLst/>
            <a:ahLst/>
            <a:cxnLst/>
            <a:rect r="r" b="b" t="t" l="l"/>
            <a:pathLst>
              <a:path h="994915" w="854383">
                <a:moveTo>
                  <a:pt x="0" y="0"/>
                </a:moveTo>
                <a:lnTo>
                  <a:pt x="854383" y="0"/>
                </a:lnTo>
                <a:lnTo>
                  <a:pt x="854383" y="994914"/>
                </a:lnTo>
                <a:lnTo>
                  <a:pt x="0" y="9949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899904" y="2057400"/>
            <a:ext cx="5227834" cy="6244063"/>
            <a:chOff x="0" y="0"/>
            <a:chExt cx="1376878" cy="1644527"/>
          </a:xfrm>
        </p:grpSpPr>
        <p:sp>
          <p:nvSpPr>
            <p:cNvPr name="Freeform 10" id="10"/>
            <p:cNvSpPr/>
            <p:nvPr/>
          </p:nvSpPr>
          <p:spPr>
            <a:xfrm flipH="false" flipV="false" rot="0">
              <a:off x="0" y="0"/>
              <a:ext cx="1376878" cy="1644527"/>
            </a:xfrm>
            <a:custGeom>
              <a:avLst/>
              <a:gdLst/>
              <a:ahLst/>
              <a:cxnLst/>
              <a:rect r="r" b="b" t="t" l="l"/>
              <a:pathLst>
                <a:path h="1644527" w="1376878">
                  <a:moveTo>
                    <a:pt x="75526" y="0"/>
                  </a:moveTo>
                  <a:lnTo>
                    <a:pt x="1301352" y="0"/>
                  </a:lnTo>
                  <a:cubicBezTo>
                    <a:pt x="1321383" y="0"/>
                    <a:pt x="1340593" y="7957"/>
                    <a:pt x="1354757" y="22121"/>
                  </a:cubicBezTo>
                  <a:cubicBezTo>
                    <a:pt x="1368921" y="36285"/>
                    <a:pt x="1376878" y="55495"/>
                    <a:pt x="1376878" y="75526"/>
                  </a:cubicBezTo>
                  <a:lnTo>
                    <a:pt x="1376878" y="1569001"/>
                  </a:lnTo>
                  <a:cubicBezTo>
                    <a:pt x="1376878" y="1589032"/>
                    <a:pt x="1368921" y="1608242"/>
                    <a:pt x="1354757" y="1622406"/>
                  </a:cubicBezTo>
                  <a:cubicBezTo>
                    <a:pt x="1340593" y="1636570"/>
                    <a:pt x="1321383" y="1644527"/>
                    <a:pt x="1301352" y="1644527"/>
                  </a:cubicBezTo>
                  <a:lnTo>
                    <a:pt x="75526" y="1644527"/>
                  </a:lnTo>
                  <a:cubicBezTo>
                    <a:pt x="55495" y="1644527"/>
                    <a:pt x="36285" y="1636570"/>
                    <a:pt x="22121" y="1622406"/>
                  </a:cubicBezTo>
                  <a:cubicBezTo>
                    <a:pt x="7957" y="1608242"/>
                    <a:pt x="0" y="1589032"/>
                    <a:pt x="0" y="1569001"/>
                  </a:cubicBezTo>
                  <a:lnTo>
                    <a:pt x="0" y="75526"/>
                  </a:lnTo>
                  <a:cubicBezTo>
                    <a:pt x="0" y="55495"/>
                    <a:pt x="7957" y="36285"/>
                    <a:pt x="22121" y="22121"/>
                  </a:cubicBezTo>
                  <a:cubicBezTo>
                    <a:pt x="36285" y="7957"/>
                    <a:pt x="55495" y="0"/>
                    <a:pt x="75526" y="0"/>
                  </a:cubicBezTo>
                  <a:close/>
                </a:path>
              </a:pathLst>
            </a:custGeom>
            <a:solidFill>
              <a:srgbClr val="000000">
                <a:alpha val="0"/>
              </a:srgbClr>
            </a:solidFill>
            <a:ln w="38100" cap="rnd">
              <a:solidFill>
                <a:srgbClr val="FFFFFF"/>
              </a:solidFill>
              <a:prstDash val="solid"/>
              <a:round/>
            </a:ln>
          </p:spPr>
        </p:sp>
        <p:sp>
          <p:nvSpPr>
            <p:cNvPr name="TextBox 11" id="11"/>
            <p:cNvSpPr txBox="true"/>
            <p:nvPr/>
          </p:nvSpPr>
          <p:spPr>
            <a:xfrm>
              <a:off x="0" y="-38100"/>
              <a:ext cx="1376878" cy="168262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848988" y="1625725"/>
            <a:ext cx="3086100" cy="771254"/>
            <a:chOff x="0" y="0"/>
            <a:chExt cx="4114800" cy="1028339"/>
          </a:xfrm>
        </p:grpSpPr>
        <p:grpSp>
          <p:nvGrpSpPr>
            <p:cNvPr name="Group 13" id="13"/>
            <p:cNvGrpSpPr/>
            <p:nvPr/>
          </p:nvGrpSpPr>
          <p:grpSpPr>
            <a:xfrm rot="0">
              <a:off x="0" y="0"/>
              <a:ext cx="4114800" cy="1028339"/>
              <a:chOff x="0" y="0"/>
              <a:chExt cx="812800" cy="203129"/>
            </a:xfrm>
          </p:grpSpPr>
          <p:sp>
            <p:nvSpPr>
              <p:cNvPr name="Freeform 14" id="14"/>
              <p:cNvSpPr/>
              <p:nvPr/>
            </p:nvSpPr>
            <p:spPr>
              <a:xfrm flipH="false" flipV="false" rot="0">
                <a:off x="0" y="0"/>
                <a:ext cx="812800" cy="203129"/>
              </a:xfrm>
              <a:custGeom>
                <a:avLst/>
                <a:gdLst/>
                <a:ahLst/>
                <a:cxnLst/>
                <a:rect r="r" b="b" t="t" l="l"/>
                <a:pathLst>
                  <a:path h="203129" w="812800">
                    <a:moveTo>
                      <a:pt x="0" y="0"/>
                    </a:moveTo>
                    <a:lnTo>
                      <a:pt x="812800" y="0"/>
                    </a:lnTo>
                    <a:lnTo>
                      <a:pt x="812800" y="203129"/>
                    </a:lnTo>
                    <a:lnTo>
                      <a:pt x="0" y="203129"/>
                    </a:lnTo>
                    <a:close/>
                  </a:path>
                </a:pathLst>
              </a:custGeom>
              <a:solidFill>
                <a:srgbClr val="1C53A3"/>
              </a:solidFill>
            </p:spPr>
          </p:sp>
          <p:sp>
            <p:nvSpPr>
              <p:cNvPr name="TextBox 15" id="15"/>
              <p:cNvSpPr txBox="true"/>
              <p:nvPr/>
            </p:nvSpPr>
            <p:spPr>
              <a:xfrm>
                <a:off x="0" y="-38100"/>
                <a:ext cx="812800" cy="241229"/>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688583" y="-85725"/>
              <a:ext cx="2737633" cy="901596"/>
            </a:xfrm>
            <a:prstGeom prst="rect">
              <a:avLst/>
            </a:prstGeom>
          </p:spPr>
          <p:txBody>
            <a:bodyPr anchor="t" rtlCol="false" tIns="0" lIns="0" bIns="0" rIns="0">
              <a:spAutoFit/>
            </a:bodyPr>
            <a:lstStyle/>
            <a:p>
              <a:pPr algn="l">
                <a:lnSpc>
                  <a:spcPts val="5648"/>
                </a:lnSpc>
              </a:pPr>
              <a:r>
                <a:rPr lang="en-US" sz="4034" b="true">
                  <a:solidFill>
                    <a:srgbClr val="FFFFFF"/>
                  </a:solidFill>
                  <a:latin typeface="Stinger Bold"/>
                  <a:ea typeface="Stinger Bold"/>
                  <a:cs typeface="Stinger Bold"/>
                  <a:sym typeface="Stinger Bold"/>
                </a:rPr>
                <a:t>Mục tiêu</a:t>
              </a:r>
            </a:p>
          </p:txBody>
        </p:sp>
      </p:grpSp>
      <p:grpSp>
        <p:nvGrpSpPr>
          <p:cNvPr name="Group 17" id="17"/>
          <p:cNvGrpSpPr/>
          <p:nvPr/>
        </p:nvGrpSpPr>
        <p:grpSpPr>
          <a:xfrm rot="0">
            <a:off x="6384913" y="2123183"/>
            <a:ext cx="5227834" cy="4258517"/>
            <a:chOff x="0" y="0"/>
            <a:chExt cx="1376878" cy="1121585"/>
          </a:xfrm>
        </p:grpSpPr>
        <p:sp>
          <p:nvSpPr>
            <p:cNvPr name="Freeform 18" id="18"/>
            <p:cNvSpPr/>
            <p:nvPr/>
          </p:nvSpPr>
          <p:spPr>
            <a:xfrm flipH="false" flipV="false" rot="0">
              <a:off x="0" y="0"/>
              <a:ext cx="1376878" cy="1121585"/>
            </a:xfrm>
            <a:custGeom>
              <a:avLst/>
              <a:gdLst/>
              <a:ahLst/>
              <a:cxnLst/>
              <a:rect r="r" b="b" t="t" l="l"/>
              <a:pathLst>
                <a:path h="1121585" w="1376878">
                  <a:moveTo>
                    <a:pt x="75526" y="0"/>
                  </a:moveTo>
                  <a:lnTo>
                    <a:pt x="1301352" y="0"/>
                  </a:lnTo>
                  <a:cubicBezTo>
                    <a:pt x="1321383" y="0"/>
                    <a:pt x="1340593" y="7957"/>
                    <a:pt x="1354757" y="22121"/>
                  </a:cubicBezTo>
                  <a:cubicBezTo>
                    <a:pt x="1368921" y="36285"/>
                    <a:pt x="1376878" y="55495"/>
                    <a:pt x="1376878" y="75526"/>
                  </a:cubicBezTo>
                  <a:lnTo>
                    <a:pt x="1376878" y="1046059"/>
                  </a:lnTo>
                  <a:cubicBezTo>
                    <a:pt x="1376878" y="1066089"/>
                    <a:pt x="1368921" y="1085300"/>
                    <a:pt x="1354757" y="1099464"/>
                  </a:cubicBezTo>
                  <a:cubicBezTo>
                    <a:pt x="1340593" y="1113628"/>
                    <a:pt x="1321383" y="1121585"/>
                    <a:pt x="1301352" y="1121585"/>
                  </a:cubicBezTo>
                  <a:lnTo>
                    <a:pt x="75526" y="1121585"/>
                  </a:lnTo>
                  <a:cubicBezTo>
                    <a:pt x="55495" y="1121585"/>
                    <a:pt x="36285" y="1113628"/>
                    <a:pt x="22121" y="1099464"/>
                  </a:cubicBezTo>
                  <a:cubicBezTo>
                    <a:pt x="7957" y="1085300"/>
                    <a:pt x="0" y="1066089"/>
                    <a:pt x="0" y="1046059"/>
                  </a:cubicBezTo>
                  <a:lnTo>
                    <a:pt x="0" y="75526"/>
                  </a:lnTo>
                  <a:cubicBezTo>
                    <a:pt x="0" y="55495"/>
                    <a:pt x="7957" y="36285"/>
                    <a:pt x="22121" y="22121"/>
                  </a:cubicBezTo>
                  <a:cubicBezTo>
                    <a:pt x="36285" y="7957"/>
                    <a:pt x="55495" y="0"/>
                    <a:pt x="75526" y="0"/>
                  </a:cubicBezTo>
                  <a:close/>
                </a:path>
              </a:pathLst>
            </a:custGeom>
            <a:solidFill>
              <a:srgbClr val="000000">
                <a:alpha val="0"/>
              </a:srgbClr>
            </a:solidFill>
            <a:ln w="38100" cap="rnd">
              <a:solidFill>
                <a:srgbClr val="FFFFFF"/>
              </a:solidFill>
              <a:prstDash val="solid"/>
              <a:round/>
            </a:ln>
          </p:spPr>
        </p:sp>
        <p:sp>
          <p:nvSpPr>
            <p:cNvPr name="TextBox 19" id="19"/>
            <p:cNvSpPr txBox="true"/>
            <p:nvPr/>
          </p:nvSpPr>
          <p:spPr>
            <a:xfrm>
              <a:off x="0" y="-38100"/>
              <a:ext cx="1376878" cy="1159685"/>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7505207" y="1028700"/>
            <a:ext cx="2743680" cy="1485629"/>
            <a:chOff x="0" y="0"/>
            <a:chExt cx="3658240" cy="1980839"/>
          </a:xfrm>
        </p:grpSpPr>
        <p:grpSp>
          <p:nvGrpSpPr>
            <p:cNvPr name="Group 21" id="21"/>
            <p:cNvGrpSpPr/>
            <p:nvPr/>
          </p:nvGrpSpPr>
          <p:grpSpPr>
            <a:xfrm rot="0">
              <a:off x="0" y="0"/>
              <a:ext cx="3658240" cy="1980839"/>
              <a:chOff x="0" y="0"/>
              <a:chExt cx="722615" cy="391277"/>
            </a:xfrm>
          </p:grpSpPr>
          <p:sp>
            <p:nvSpPr>
              <p:cNvPr name="Freeform 22" id="22"/>
              <p:cNvSpPr/>
              <p:nvPr/>
            </p:nvSpPr>
            <p:spPr>
              <a:xfrm flipH="false" flipV="false" rot="0">
                <a:off x="0" y="0"/>
                <a:ext cx="722615" cy="391277"/>
              </a:xfrm>
              <a:custGeom>
                <a:avLst/>
                <a:gdLst/>
                <a:ahLst/>
                <a:cxnLst/>
                <a:rect r="r" b="b" t="t" l="l"/>
                <a:pathLst>
                  <a:path h="391277" w="722615">
                    <a:moveTo>
                      <a:pt x="0" y="0"/>
                    </a:moveTo>
                    <a:lnTo>
                      <a:pt x="722615" y="0"/>
                    </a:lnTo>
                    <a:lnTo>
                      <a:pt x="722615" y="391277"/>
                    </a:lnTo>
                    <a:lnTo>
                      <a:pt x="0" y="391277"/>
                    </a:lnTo>
                    <a:close/>
                  </a:path>
                </a:pathLst>
              </a:custGeom>
              <a:solidFill>
                <a:srgbClr val="1C53A3"/>
              </a:solidFill>
            </p:spPr>
          </p:sp>
          <p:sp>
            <p:nvSpPr>
              <p:cNvPr name="TextBox 23" id="23"/>
              <p:cNvSpPr txBox="true"/>
              <p:nvPr/>
            </p:nvSpPr>
            <p:spPr>
              <a:xfrm>
                <a:off x="0" y="-38100"/>
                <a:ext cx="722615" cy="429377"/>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612181" y="-85725"/>
              <a:ext cx="2433878" cy="1854096"/>
            </a:xfrm>
            <a:prstGeom prst="rect">
              <a:avLst/>
            </a:prstGeom>
          </p:spPr>
          <p:txBody>
            <a:bodyPr anchor="t" rtlCol="false" tIns="0" lIns="0" bIns="0" rIns="0">
              <a:spAutoFit/>
            </a:bodyPr>
            <a:lstStyle/>
            <a:p>
              <a:pPr algn="ctr">
                <a:lnSpc>
                  <a:spcPts val="5648"/>
                </a:lnSpc>
              </a:pPr>
              <a:r>
                <a:rPr lang="en-US" sz="4034" b="true">
                  <a:solidFill>
                    <a:srgbClr val="FFFFFF"/>
                  </a:solidFill>
                  <a:latin typeface="Stinger Bold"/>
                  <a:ea typeface="Stinger Bold"/>
                  <a:cs typeface="Stinger Bold"/>
                  <a:sym typeface="Stinger Bold"/>
                </a:rPr>
                <a:t>Điểm </a:t>
              </a:r>
            </a:p>
            <a:p>
              <a:pPr algn="ctr">
                <a:lnSpc>
                  <a:spcPts val="5648"/>
                </a:lnSpc>
              </a:pPr>
              <a:r>
                <a:rPr lang="en-US" b="true" sz="4034">
                  <a:solidFill>
                    <a:srgbClr val="FFFFFF"/>
                  </a:solidFill>
                  <a:latin typeface="Stinger Bold"/>
                  <a:ea typeface="Stinger Bold"/>
                  <a:cs typeface="Stinger Bold"/>
                  <a:sym typeface="Stinger Bold"/>
                </a:rPr>
                <a:t>nổi bật</a:t>
              </a:r>
            </a:p>
          </p:txBody>
        </p:sp>
      </p:grpSp>
      <p:grpSp>
        <p:nvGrpSpPr>
          <p:cNvPr name="Group 25" id="25"/>
          <p:cNvGrpSpPr/>
          <p:nvPr/>
        </p:nvGrpSpPr>
        <p:grpSpPr>
          <a:xfrm rot="0">
            <a:off x="11869921" y="2123183"/>
            <a:ext cx="5227834" cy="4258517"/>
            <a:chOff x="0" y="0"/>
            <a:chExt cx="1376878" cy="1121585"/>
          </a:xfrm>
        </p:grpSpPr>
        <p:sp>
          <p:nvSpPr>
            <p:cNvPr name="Freeform 26" id="26"/>
            <p:cNvSpPr/>
            <p:nvPr/>
          </p:nvSpPr>
          <p:spPr>
            <a:xfrm flipH="false" flipV="false" rot="0">
              <a:off x="0" y="0"/>
              <a:ext cx="1376878" cy="1121585"/>
            </a:xfrm>
            <a:custGeom>
              <a:avLst/>
              <a:gdLst/>
              <a:ahLst/>
              <a:cxnLst/>
              <a:rect r="r" b="b" t="t" l="l"/>
              <a:pathLst>
                <a:path h="1121585" w="1376878">
                  <a:moveTo>
                    <a:pt x="75526" y="0"/>
                  </a:moveTo>
                  <a:lnTo>
                    <a:pt x="1301352" y="0"/>
                  </a:lnTo>
                  <a:cubicBezTo>
                    <a:pt x="1321383" y="0"/>
                    <a:pt x="1340593" y="7957"/>
                    <a:pt x="1354757" y="22121"/>
                  </a:cubicBezTo>
                  <a:cubicBezTo>
                    <a:pt x="1368921" y="36285"/>
                    <a:pt x="1376878" y="55495"/>
                    <a:pt x="1376878" y="75526"/>
                  </a:cubicBezTo>
                  <a:lnTo>
                    <a:pt x="1376878" y="1046059"/>
                  </a:lnTo>
                  <a:cubicBezTo>
                    <a:pt x="1376878" y="1066089"/>
                    <a:pt x="1368921" y="1085300"/>
                    <a:pt x="1354757" y="1099464"/>
                  </a:cubicBezTo>
                  <a:cubicBezTo>
                    <a:pt x="1340593" y="1113628"/>
                    <a:pt x="1321383" y="1121585"/>
                    <a:pt x="1301352" y="1121585"/>
                  </a:cubicBezTo>
                  <a:lnTo>
                    <a:pt x="75526" y="1121585"/>
                  </a:lnTo>
                  <a:cubicBezTo>
                    <a:pt x="55495" y="1121585"/>
                    <a:pt x="36285" y="1113628"/>
                    <a:pt x="22121" y="1099464"/>
                  </a:cubicBezTo>
                  <a:cubicBezTo>
                    <a:pt x="7957" y="1085300"/>
                    <a:pt x="0" y="1066089"/>
                    <a:pt x="0" y="1046059"/>
                  </a:cubicBezTo>
                  <a:lnTo>
                    <a:pt x="0" y="75526"/>
                  </a:lnTo>
                  <a:cubicBezTo>
                    <a:pt x="0" y="55495"/>
                    <a:pt x="7957" y="36285"/>
                    <a:pt x="22121" y="22121"/>
                  </a:cubicBezTo>
                  <a:cubicBezTo>
                    <a:pt x="36285" y="7957"/>
                    <a:pt x="55495" y="0"/>
                    <a:pt x="75526" y="0"/>
                  </a:cubicBezTo>
                  <a:close/>
                </a:path>
              </a:pathLst>
            </a:custGeom>
            <a:solidFill>
              <a:srgbClr val="000000">
                <a:alpha val="0"/>
              </a:srgbClr>
            </a:solidFill>
            <a:ln w="38100" cap="rnd">
              <a:solidFill>
                <a:srgbClr val="FFFFFF"/>
              </a:solidFill>
              <a:prstDash val="solid"/>
              <a:round/>
            </a:ln>
          </p:spPr>
        </p:sp>
        <p:sp>
          <p:nvSpPr>
            <p:cNvPr name="TextBox 27" id="27"/>
            <p:cNvSpPr txBox="true"/>
            <p:nvPr/>
          </p:nvSpPr>
          <p:spPr>
            <a:xfrm>
              <a:off x="0" y="-38100"/>
              <a:ext cx="1376878" cy="1159685"/>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12347981" y="1028700"/>
            <a:ext cx="4261796" cy="1485629"/>
            <a:chOff x="0" y="0"/>
            <a:chExt cx="5682395" cy="1980839"/>
          </a:xfrm>
        </p:grpSpPr>
        <p:grpSp>
          <p:nvGrpSpPr>
            <p:cNvPr name="Group 29" id="29"/>
            <p:cNvGrpSpPr/>
            <p:nvPr/>
          </p:nvGrpSpPr>
          <p:grpSpPr>
            <a:xfrm rot="0">
              <a:off x="0" y="0"/>
              <a:ext cx="5682395" cy="1980839"/>
              <a:chOff x="0" y="0"/>
              <a:chExt cx="1122448" cy="391277"/>
            </a:xfrm>
          </p:grpSpPr>
          <p:sp>
            <p:nvSpPr>
              <p:cNvPr name="Freeform 30" id="30"/>
              <p:cNvSpPr/>
              <p:nvPr/>
            </p:nvSpPr>
            <p:spPr>
              <a:xfrm flipH="false" flipV="false" rot="0">
                <a:off x="0" y="0"/>
                <a:ext cx="1122448" cy="391277"/>
              </a:xfrm>
              <a:custGeom>
                <a:avLst/>
                <a:gdLst/>
                <a:ahLst/>
                <a:cxnLst/>
                <a:rect r="r" b="b" t="t" l="l"/>
                <a:pathLst>
                  <a:path h="391277" w="1122448">
                    <a:moveTo>
                      <a:pt x="0" y="0"/>
                    </a:moveTo>
                    <a:lnTo>
                      <a:pt x="1122448" y="0"/>
                    </a:lnTo>
                    <a:lnTo>
                      <a:pt x="1122448" y="391277"/>
                    </a:lnTo>
                    <a:lnTo>
                      <a:pt x="0" y="391277"/>
                    </a:lnTo>
                    <a:close/>
                  </a:path>
                </a:pathLst>
              </a:custGeom>
              <a:solidFill>
                <a:srgbClr val="1C53A3"/>
              </a:solidFill>
            </p:spPr>
          </p:sp>
          <p:sp>
            <p:nvSpPr>
              <p:cNvPr name="TextBox 31" id="31"/>
              <p:cNvSpPr txBox="true"/>
              <p:nvPr/>
            </p:nvSpPr>
            <p:spPr>
              <a:xfrm>
                <a:off x="0" y="-38100"/>
                <a:ext cx="1122448" cy="429377"/>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950910" y="-85725"/>
              <a:ext cx="3780576" cy="1854096"/>
            </a:xfrm>
            <a:prstGeom prst="rect">
              <a:avLst/>
            </a:prstGeom>
          </p:spPr>
          <p:txBody>
            <a:bodyPr anchor="t" rtlCol="false" tIns="0" lIns="0" bIns="0" rIns="0">
              <a:spAutoFit/>
            </a:bodyPr>
            <a:lstStyle/>
            <a:p>
              <a:pPr algn="ctr">
                <a:lnSpc>
                  <a:spcPts val="5648"/>
                </a:lnSpc>
              </a:pPr>
              <a:r>
                <a:rPr lang="en-US" b="true" sz="4034">
                  <a:solidFill>
                    <a:srgbClr val="FFFFFF"/>
                  </a:solidFill>
                  <a:latin typeface="Stinger Bold"/>
                  <a:ea typeface="Stinger Bold"/>
                  <a:cs typeface="Stinger Bold"/>
                  <a:sym typeface="Stinger Bold"/>
                </a:rPr>
                <a:t>Định hướng</a:t>
              </a:r>
            </a:p>
            <a:p>
              <a:pPr algn="ctr">
                <a:lnSpc>
                  <a:spcPts val="5648"/>
                </a:lnSpc>
              </a:pPr>
              <a:r>
                <a:rPr lang="en-US" b="true" sz="4034">
                  <a:solidFill>
                    <a:srgbClr val="FFFFFF"/>
                  </a:solidFill>
                  <a:latin typeface="Stinger Bold"/>
                  <a:ea typeface="Stinger Bold"/>
                  <a:cs typeface="Stinger Bold"/>
                  <a:sym typeface="Stinger Bold"/>
                </a:rPr>
                <a:t>phát triển</a:t>
              </a:r>
            </a:p>
          </p:txBody>
        </p:sp>
      </p:grpSp>
      <p:sp>
        <p:nvSpPr>
          <p:cNvPr name="TextBox 33" id="33"/>
          <p:cNvSpPr txBox="true"/>
          <p:nvPr/>
        </p:nvSpPr>
        <p:spPr>
          <a:xfrm rot="0">
            <a:off x="6384913" y="3219205"/>
            <a:ext cx="4984269" cy="2436893"/>
          </a:xfrm>
          <a:prstGeom prst="rect">
            <a:avLst/>
          </a:prstGeom>
        </p:spPr>
        <p:txBody>
          <a:bodyPr anchor="t" rtlCol="false" tIns="0" lIns="0" bIns="0" rIns="0">
            <a:spAutoFit/>
          </a:bodyPr>
          <a:lstStyle/>
          <a:p>
            <a:pPr algn="l" marL="741474" indent="-370737" lvl="1">
              <a:lnSpc>
                <a:spcPts val="4808"/>
              </a:lnSpc>
              <a:buFont typeface="Arial"/>
              <a:buChar char="•"/>
            </a:pPr>
            <a:r>
              <a:rPr lang="en-US" sz="3434">
                <a:solidFill>
                  <a:srgbClr val="FFFFFF"/>
                </a:solidFill>
                <a:latin typeface="Stinger"/>
                <a:ea typeface="Stinger"/>
                <a:cs typeface="Stinger"/>
                <a:sym typeface="Stinger"/>
              </a:rPr>
              <a:t>Không cần máy chủ trung gian</a:t>
            </a:r>
          </a:p>
          <a:p>
            <a:pPr algn="l" marL="741474" indent="-370737" lvl="1">
              <a:lnSpc>
                <a:spcPts val="4808"/>
              </a:lnSpc>
              <a:buFont typeface="Arial"/>
              <a:buChar char="•"/>
            </a:pPr>
            <a:r>
              <a:rPr lang="en-US" sz="3434">
                <a:solidFill>
                  <a:srgbClr val="FFFFFF"/>
                </a:solidFill>
                <a:latin typeface="Stinger"/>
                <a:ea typeface="Stinger"/>
                <a:cs typeface="Stinger"/>
                <a:sym typeface="Stinger"/>
              </a:rPr>
              <a:t>G</a:t>
            </a:r>
            <a:r>
              <a:rPr lang="en-US" sz="3434">
                <a:solidFill>
                  <a:srgbClr val="FFFFFF"/>
                </a:solidFill>
                <a:latin typeface="Stinger"/>
                <a:ea typeface="Stinger"/>
                <a:cs typeface="Stinger"/>
                <a:sym typeface="Stinger"/>
              </a:rPr>
              <a:t>iao diện Web giúp thuận tiện thao tác</a:t>
            </a:r>
          </a:p>
        </p:txBody>
      </p:sp>
      <p:sp>
        <p:nvSpPr>
          <p:cNvPr name="TextBox 34" id="34"/>
          <p:cNvSpPr txBox="true"/>
          <p:nvPr/>
        </p:nvSpPr>
        <p:spPr>
          <a:xfrm rot="0">
            <a:off x="899904" y="3219205"/>
            <a:ext cx="4984269" cy="4265809"/>
          </a:xfrm>
          <a:prstGeom prst="rect">
            <a:avLst/>
          </a:prstGeom>
        </p:spPr>
        <p:txBody>
          <a:bodyPr anchor="t" rtlCol="false" tIns="0" lIns="0" bIns="0" rIns="0">
            <a:spAutoFit/>
          </a:bodyPr>
          <a:lstStyle/>
          <a:p>
            <a:pPr algn="l" marL="741474" indent="-370737" lvl="1">
              <a:lnSpc>
                <a:spcPts val="4808"/>
              </a:lnSpc>
              <a:buFont typeface="Arial"/>
              <a:buChar char="•"/>
            </a:pPr>
            <a:r>
              <a:rPr lang="en-US" sz="3434">
                <a:solidFill>
                  <a:srgbClr val="FFFFFF"/>
                </a:solidFill>
                <a:latin typeface="Stinger"/>
                <a:ea typeface="Stinger"/>
                <a:cs typeface="Stinger"/>
                <a:sym typeface="Stinger"/>
              </a:rPr>
              <a:t>Thiết kế một hệ thống đơn giản, sử dụng kết nối TCP để trao đổi tin nhắn giữa các peer.</a:t>
            </a:r>
          </a:p>
          <a:p>
            <a:pPr algn="l" marL="741474" indent="-370737" lvl="1">
              <a:lnSpc>
                <a:spcPts val="4808"/>
              </a:lnSpc>
              <a:buFont typeface="Arial"/>
              <a:buChar char="•"/>
            </a:pPr>
            <a:r>
              <a:rPr lang="en-US" sz="3434">
                <a:solidFill>
                  <a:srgbClr val="FFFFFF"/>
                </a:solidFill>
                <a:latin typeface="Stinger"/>
                <a:ea typeface="Stinger"/>
                <a:cs typeface="Stinger"/>
                <a:sym typeface="Stinger"/>
              </a:rPr>
              <a:t>Cung cấp giao diện Web để người dùng dễ tương tác</a:t>
            </a:r>
          </a:p>
        </p:txBody>
      </p:sp>
      <p:sp>
        <p:nvSpPr>
          <p:cNvPr name="TextBox 35" id="35"/>
          <p:cNvSpPr txBox="true"/>
          <p:nvPr/>
        </p:nvSpPr>
        <p:spPr>
          <a:xfrm rot="0">
            <a:off x="11869921" y="3219205"/>
            <a:ext cx="4984269" cy="3046576"/>
          </a:xfrm>
          <a:prstGeom prst="rect">
            <a:avLst/>
          </a:prstGeom>
        </p:spPr>
        <p:txBody>
          <a:bodyPr anchor="t" rtlCol="false" tIns="0" lIns="0" bIns="0" rIns="0">
            <a:spAutoFit/>
          </a:bodyPr>
          <a:lstStyle/>
          <a:p>
            <a:pPr algn="l" marL="741474" indent="-370737" lvl="1">
              <a:lnSpc>
                <a:spcPts val="4808"/>
              </a:lnSpc>
              <a:buFont typeface="Arial"/>
              <a:buChar char="•"/>
            </a:pPr>
            <a:r>
              <a:rPr lang="en-US" sz="3434">
                <a:solidFill>
                  <a:srgbClr val="FFFFFF"/>
                </a:solidFill>
                <a:latin typeface="Stinger"/>
                <a:ea typeface="Stinger"/>
                <a:cs typeface="Stinger"/>
                <a:sym typeface="Stinger"/>
              </a:rPr>
              <a:t>Có thể mở rộng để nhiều peer cù</a:t>
            </a:r>
            <a:r>
              <a:rPr lang="en-US" sz="3434">
                <a:solidFill>
                  <a:srgbClr val="FFFFFF"/>
                </a:solidFill>
                <a:latin typeface="Stinger"/>
                <a:ea typeface="Stinger"/>
                <a:cs typeface="Stinger"/>
                <a:sym typeface="Stinger"/>
              </a:rPr>
              <a:t>ng trò chuyện trong mạng ngang hàng.</a:t>
            </a:r>
          </a:p>
          <a:p>
            <a:pPr algn="l">
              <a:lnSpc>
                <a:spcPts val="4808"/>
              </a:lnSpc>
            </a:pPr>
          </a:p>
        </p:txBody>
      </p:sp>
      <p:grpSp>
        <p:nvGrpSpPr>
          <p:cNvPr name="Group 36" id="36"/>
          <p:cNvGrpSpPr/>
          <p:nvPr/>
        </p:nvGrpSpPr>
        <p:grpSpPr>
          <a:xfrm rot="0">
            <a:off x="899904" y="1188662"/>
            <a:ext cx="5227834" cy="1928918"/>
            <a:chOff x="0" y="0"/>
            <a:chExt cx="1376878" cy="508028"/>
          </a:xfrm>
        </p:grpSpPr>
        <p:sp>
          <p:nvSpPr>
            <p:cNvPr name="Freeform 37" id="37"/>
            <p:cNvSpPr/>
            <p:nvPr/>
          </p:nvSpPr>
          <p:spPr>
            <a:xfrm flipH="false" flipV="false" rot="0">
              <a:off x="0" y="0"/>
              <a:ext cx="1376878" cy="508028"/>
            </a:xfrm>
            <a:custGeom>
              <a:avLst/>
              <a:gdLst/>
              <a:ahLst/>
              <a:cxnLst/>
              <a:rect r="r" b="b" t="t" l="l"/>
              <a:pathLst>
                <a:path h="508028" w="1376878">
                  <a:moveTo>
                    <a:pt x="75526" y="0"/>
                  </a:moveTo>
                  <a:lnTo>
                    <a:pt x="1301352" y="0"/>
                  </a:lnTo>
                  <a:cubicBezTo>
                    <a:pt x="1321383" y="0"/>
                    <a:pt x="1340593" y="7957"/>
                    <a:pt x="1354757" y="22121"/>
                  </a:cubicBezTo>
                  <a:cubicBezTo>
                    <a:pt x="1368921" y="36285"/>
                    <a:pt x="1376878" y="55495"/>
                    <a:pt x="1376878" y="75526"/>
                  </a:cubicBezTo>
                  <a:lnTo>
                    <a:pt x="1376878" y="432502"/>
                  </a:lnTo>
                  <a:cubicBezTo>
                    <a:pt x="1376878" y="452532"/>
                    <a:pt x="1368921" y="471743"/>
                    <a:pt x="1354757" y="485907"/>
                  </a:cubicBezTo>
                  <a:cubicBezTo>
                    <a:pt x="1340593" y="500071"/>
                    <a:pt x="1321383" y="508028"/>
                    <a:pt x="1301352" y="508028"/>
                  </a:cubicBezTo>
                  <a:lnTo>
                    <a:pt x="75526" y="508028"/>
                  </a:lnTo>
                  <a:cubicBezTo>
                    <a:pt x="55495" y="508028"/>
                    <a:pt x="36285" y="500071"/>
                    <a:pt x="22121" y="485907"/>
                  </a:cubicBezTo>
                  <a:cubicBezTo>
                    <a:pt x="7957" y="471743"/>
                    <a:pt x="0" y="452532"/>
                    <a:pt x="0" y="432502"/>
                  </a:cubicBezTo>
                  <a:lnTo>
                    <a:pt x="0" y="75526"/>
                  </a:lnTo>
                  <a:cubicBezTo>
                    <a:pt x="0" y="55495"/>
                    <a:pt x="7957" y="36285"/>
                    <a:pt x="22121" y="22121"/>
                  </a:cubicBezTo>
                  <a:cubicBezTo>
                    <a:pt x="36285" y="7957"/>
                    <a:pt x="55495" y="0"/>
                    <a:pt x="75526" y="0"/>
                  </a:cubicBezTo>
                  <a:close/>
                </a:path>
              </a:pathLst>
            </a:custGeom>
            <a:solidFill>
              <a:srgbClr val="000000">
                <a:alpha val="0"/>
              </a:srgbClr>
            </a:solidFill>
            <a:ln w="38100" cap="rnd">
              <a:solidFill>
                <a:srgbClr val="1C53A3"/>
              </a:solidFill>
              <a:prstDash val="solid"/>
              <a:round/>
            </a:ln>
          </p:spPr>
        </p:sp>
        <p:sp>
          <p:nvSpPr>
            <p:cNvPr name="TextBox 38" id="38"/>
            <p:cNvSpPr txBox="true"/>
            <p:nvPr/>
          </p:nvSpPr>
          <p:spPr>
            <a:xfrm>
              <a:off x="0" y="-38100"/>
              <a:ext cx="1376878" cy="546128"/>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6384913" y="477965"/>
            <a:ext cx="5227834" cy="2609676"/>
            <a:chOff x="0" y="0"/>
            <a:chExt cx="1376878" cy="687322"/>
          </a:xfrm>
        </p:grpSpPr>
        <p:sp>
          <p:nvSpPr>
            <p:cNvPr name="Freeform 40" id="40"/>
            <p:cNvSpPr/>
            <p:nvPr/>
          </p:nvSpPr>
          <p:spPr>
            <a:xfrm flipH="false" flipV="false" rot="0">
              <a:off x="0" y="0"/>
              <a:ext cx="1376878" cy="687322"/>
            </a:xfrm>
            <a:custGeom>
              <a:avLst/>
              <a:gdLst/>
              <a:ahLst/>
              <a:cxnLst/>
              <a:rect r="r" b="b" t="t" l="l"/>
              <a:pathLst>
                <a:path h="687322" w="1376878">
                  <a:moveTo>
                    <a:pt x="75526" y="0"/>
                  </a:moveTo>
                  <a:lnTo>
                    <a:pt x="1301352" y="0"/>
                  </a:lnTo>
                  <a:cubicBezTo>
                    <a:pt x="1321383" y="0"/>
                    <a:pt x="1340593" y="7957"/>
                    <a:pt x="1354757" y="22121"/>
                  </a:cubicBezTo>
                  <a:cubicBezTo>
                    <a:pt x="1368921" y="36285"/>
                    <a:pt x="1376878" y="55495"/>
                    <a:pt x="1376878" y="75526"/>
                  </a:cubicBezTo>
                  <a:lnTo>
                    <a:pt x="1376878" y="611796"/>
                  </a:lnTo>
                  <a:cubicBezTo>
                    <a:pt x="1376878" y="653508"/>
                    <a:pt x="1343064" y="687322"/>
                    <a:pt x="1301352" y="687322"/>
                  </a:cubicBezTo>
                  <a:lnTo>
                    <a:pt x="75526" y="687322"/>
                  </a:lnTo>
                  <a:cubicBezTo>
                    <a:pt x="55495" y="687322"/>
                    <a:pt x="36285" y="679365"/>
                    <a:pt x="22121" y="665201"/>
                  </a:cubicBezTo>
                  <a:cubicBezTo>
                    <a:pt x="7957" y="651037"/>
                    <a:pt x="0" y="631827"/>
                    <a:pt x="0" y="611796"/>
                  </a:cubicBezTo>
                  <a:lnTo>
                    <a:pt x="0" y="75526"/>
                  </a:lnTo>
                  <a:cubicBezTo>
                    <a:pt x="0" y="55495"/>
                    <a:pt x="7957" y="36285"/>
                    <a:pt x="22121" y="22121"/>
                  </a:cubicBezTo>
                  <a:cubicBezTo>
                    <a:pt x="36285" y="7957"/>
                    <a:pt x="55495" y="0"/>
                    <a:pt x="75526" y="0"/>
                  </a:cubicBezTo>
                  <a:close/>
                </a:path>
              </a:pathLst>
            </a:custGeom>
            <a:solidFill>
              <a:srgbClr val="000000">
                <a:alpha val="0"/>
              </a:srgbClr>
            </a:solidFill>
            <a:ln w="38100" cap="rnd">
              <a:solidFill>
                <a:srgbClr val="1C53A3"/>
              </a:solidFill>
              <a:prstDash val="solid"/>
              <a:round/>
            </a:ln>
          </p:spPr>
        </p:sp>
        <p:sp>
          <p:nvSpPr>
            <p:cNvPr name="TextBox 41" id="41"/>
            <p:cNvSpPr txBox="true"/>
            <p:nvPr/>
          </p:nvSpPr>
          <p:spPr>
            <a:xfrm>
              <a:off x="0" y="-38100"/>
              <a:ext cx="1376878" cy="725422"/>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1864962" y="477965"/>
            <a:ext cx="5227834" cy="2609676"/>
            <a:chOff x="0" y="0"/>
            <a:chExt cx="1376878" cy="687322"/>
          </a:xfrm>
        </p:grpSpPr>
        <p:sp>
          <p:nvSpPr>
            <p:cNvPr name="Freeform 43" id="43"/>
            <p:cNvSpPr/>
            <p:nvPr/>
          </p:nvSpPr>
          <p:spPr>
            <a:xfrm flipH="false" flipV="false" rot="0">
              <a:off x="0" y="0"/>
              <a:ext cx="1376878" cy="687322"/>
            </a:xfrm>
            <a:custGeom>
              <a:avLst/>
              <a:gdLst/>
              <a:ahLst/>
              <a:cxnLst/>
              <a:rect r="r" b="b" t="t" l="l"/>
              <a:pathLst>
                <a:path h="687322" w="1376878">
                  <a:moveTo>
                    <a:pt x="75526" y="0"/>
                  </a:moveTo>
                  <a:lnTo>
                    <a:pt x="1301352" y="0"/>
                  </a:lnTo>
                  <a:cubicBezTo>
                    <a:pt x="1321383" y="0"/>
                    <a:pt x="1340593" y="7957"/>
                    <a:pt x="1354757" y="22121"/>
                  </a:cubicBezTo>
                  <a:cubicBezTo>
                    <a:pt x="1368921" y="36285"/>
                    <a:pt x="1376878" y="55495"/>
                    <a:pt x="1376878" y="75526"/>
                  </a:cubicBezTo>
                  <a:lnTo>
                    <a:pt x="1376878" y="611796"/>
                  </a:lnTo>
                  <a:cubicBezTo>
                    <a:pt x="1376878" y="653508"/>
                    <a:pt x="1343064" y="687322"/>
                    <a:pt x="1301352" y="687322"/>
                  </a:cubicBezTo>
                  <a:lnTo>
                    <a:pt x="75526" y="687322"/>
                  </a:lnTo>
                  <a:cubicBezTo>
                    <a:pt x="55495" y="687322"/>
                    <a:pt x="36285" y="679365"/>
                    <a:pt x="22121" y="665201"/>
                  </a:cubicBezTo>
                  <a:cubicBezTo>
                    <a:pt x="7957" y="651037"/>
                    <a:pt x="0" y="631827"/>
                    <a:pt x="0" y="611796"/>
                  </a:cubicBezTo>
                  <a:lnTo>
                    <a:pt x="0" y="75526"/>
                  </a:lnTo>
                  <a:cubicBezTo>
                    <a:pt x="0" y="55495"/>
                    <a:pt x="7957" y="36285"/>
                    <a:pt x="22121" y="22121"/>
                  </a:cubicBezTo>
                  <a:cubicBezTo>
                    <a:pt x="36285" y="7957"/>
                    <a:pt x="55495" y="0"/>
                    <a:pt x="75526" y="0"/>
                  </a:cubicBezTo>
                  <a:close/>
                </a:path>
              </a:pathLst>
            </a:custGeom>
            <a:solidFill>
              <a:srgbClr val="000000">
                <a:alpha val="0"/>
              </a:srgbClr>
            </a:solidFill>
            <a:ln w="38100" cap="rnd">
              <a:solidFill>
                <a:srgbClr val="1C53A3"/>
              </a:solidFill>
              <a:prstDash val="solid"/>
              <a:round/>
            </a:ln>
          </p:spPr>
        </p:sp>
        <p:sp>
          <p:nvSpPr>
            <p:cNvPr name="TextBox 44" id="44"/>
            <p:cNvSpPr txBox="true"/>
            <p:nvPr/>
          </p:nvSpPr>
          <p:spPr>
            <a:xfrm>
              <a:off x="0" y="-38100"/>
              <a:ext cx="1376878" cy="72542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0">
            <a:off x="9922226" y="2987783"/>
            <a:ext cx="11649758" cy="11778248"/>
          </a:xfrm>
          <a:custGeom>
            <a:avLst/>
            <a:gdLst/>
            <a:ahLst/>
            <a:cxnLst/>
            <a:rect r="r" b="b" t="t" l="l"/>
            <a:pathLst>
              <a:path h="11778248" w="11649758">
                <a:moveTo>
                  <a:pt x="0" y="0"/>
                </a:moveTo>
                <a:lnTo>
                  <a:pt x="11649758" y="0"/>
                </a:lnTo>
                <a:lnTo>
                  <a:pt x="11649758" y="11778249"/>
                </a:lnTo>
                <a:lnTo>
                  <a:pt x="0" y="11778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199734" y="714333"/>
            <a:ext cx="5229163" cy="522916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31852" t="0" r="-37638" b="0"/>
              </a:stretch>
            </a:blipFill>
          </p:spPr>
        </p:sp>
      </p:grpSp>
      <p:grpSp>
        <p:nvGrpSpPr>
          <p:cNvPr name="Group 5" id="5"/>
          <p:cNvGrpSpPr/>
          <p:nvPr/>
        </p:nvGrpSpPr>
        <p:grpSpPr>
          <a:xfrm rot="0">
            <a:off x="9495035" y="5704923"/>
            <a:ext cx="3878482" cy="387848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441" r="0" b="-441"/>
              </a:stretch>
            </a:blipFill>
          </p:spPr>
        </p:sp>
      </p:grpSp>
      <p:sp>
        <p:nvSpPr>
          <p:cNvPr name="Freeform 7" id="7"/>
          <p:cNvSpPr/>
          <p:nvPr/>
        </p:nvSpPr>
        <p:spPr>
          <a:xfrm flipH="false" flipV="false" rot="0">
            <a:off x="9144000" y="1442554"/>
            <a:ext cx="854383" cy="994915"/>
          </a:xfrm>
          <a:custGeom>
            <a:avLst/>
            <a:gdLst/>
            <a:ahLst/>
            <a:cxnLst/>
            <a:rect r="r" b="b" t="t" l="l"/>
            <a:pathLst>
              <a:path h="994915" w="854383">
                <a:moveTo>
                  <a:pt x="0" y="0"/>
                </a:moveTo>
                <a:lnTo>
                  <a:pt x="854383" y="0"/>
                </a:lnTo>
                <a:lnTo>
                  <a:pt x="854383" y="994915"/>
                </a:lnTo>
                <a:lnTo>
                  <a:pt x="0" y="9949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260747" y="3222722"/>
            <a:ext cx="9652535" cy="1945008"/>
          </a:xfrm>
          <a:prstGeom prst="rect">
            <a:avLst/>
          </a:prstGeom>
        </p:spPr>
        <p:txBody>
          <a:bodyPr anchor="t" rtlCol="false" tIns="0" lIns="0" bIns="0" rIns="0">
            <a:spAutoFit/>
          </a:bodyPr>
          <a:lstStyle/>
          <a:p>
            <a:pPr algn="l">
              <a:lnSpc>
                <a:spcPts val="7560"/>
              </a:lnSpc>
            </a:pPr>
            <a:r>
              <a:rPr lang="en-US" sz="7000">
                <a:solidFill>
                  <a:srgbClr val="FFFFFF"/>
                </a:solidFill>
                <a:latin typeface="Stinger"/>
                <a:ea typeface="Stinger"/>
                <a:cs typeface="Stinger"/>
                <a:sym typeface="Stinger"/>
              </a:rPr>
              <a:t>LÝ THUYẾT &amp;</a:t>
            </a:r>
          </a:p>
          <a:p>
            <a:pPr algn="l">
              <a:lnSpc>
                <a:spcPts val="7560"/>
              </a:lnSpc>
            </a:pPr>
            <a:r>
              <a:rPr lang="en-US" sz="7000">
                <a:solidFill>
                  <a:srgbClr val="FFFFFF"/>
                </a:solidFill>
                <a:latin typeface="Stinger"/>
                <a:ea typeface="Stinger"/>
                <a:cs typeface="Stinger"/>
                <a:sym typeface="Stinger"/>
              </a:rPr>
              <a:t>CÔNG NGHỆ SỬ DỤNG</a:t>
            </a:r>
          </a:p>
        </p:txBody>
      </p:sp>
      <p:sp>
        <p:nvSpPr>
          <p:cNvPr name="TextBox 9" id="9"/>
          <p:cNvSpPr txBox="true"/>
          <p:nvPr/>
        </p:nvSpPr>
        <p:spPr>
          <a:xfrm rot="0">
            <a:off x="1260747" y="2042224"/>
            <a:ext cx="1608136" cy="1113824"/>
          </a:xfrm>
          <a:prstGeom prst="rect">
            <a:avLst/>
          </a:prstGeom>
        </p:spPr>
        <p:txBody>
          <a:bodyPr anchor="t" rtlCol="false" tIns="0" lIns="0" bIns="0" rIns="0">
            <a:spAutoFit/>
          </a:bodyPr>
          <a:lstStyle/>
          <a:p>
            <a:pPr algn="l">
              <a:lnSpc>
                <a:spcPts val="8480"/>
              </a:lnSpc>
            </a:pPr>
            <a:r>
              <a:rPr lang="en-US" sz="8000" b="true">
                <a:solidFill>
                  <a:srgbClr val="FFFFFF"/>
                </a:solidFill>
                <a:latin typeface="Stinger Bold"/>
                <a:ea typeface="Stinger Bold"/>
                <a:cs typeface="Stinger Bold"/>
                <a:sym typeface="Stinger Bold"/>
              </a:rPr>
              <a:t>02.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9428196">
            <a:off x="-3094374" y="-3685771"/>
            <a:ext cx="13691661" cy="7990951"/>
          </a:xfrm>
          <a:custGeom>
            <a:avLst/>
            <a:gdLst/>
            <a:ahLst/>
            <a:cxnLst/>
            <a:rect r="r" b="b" t="t" l="l"/>
            <a:pathLst>
              <a:path h="7990951" w="13691661">
                <a:moveTo>
                  <a:pt x="0" y="0"/>
                </a:moveTo>
                <a:lnTo>
                  <a:pt x="13691661" y="0"/>
                </a:lnTo>
                <a:lnTo>
                  <a:pt x="13691661" y="7990951"/>
                </a:lnTo>
                <a:lnTo>
                  <a:pt x="0" y="7990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9019426" y="2530065"/>
            <a:ext cx="3087922" cy="85266"/>
            <a:chOff x="0" y="0"/>
            <a:chExt cx="813280" cy="22457"/>
          </a:xfrm>
        </p:grpSpPr>
        <p:sp>
          <p:nvSpPr>
            <p:cNvPr name="Freeform 4" id="4"/>
            <p:cNvSpPr/>
            <p:nvPr/>
          </p:nvSpPr>
          <p:spPr>
            <a:xfrm flipH="false" flipV="false" rot="0">
              <a:off x="0" y="0"/>
              <a:ext cx="813280" cy="22457"/>
            </a:xfrm>
            <a:custGeom>
              <a:avLst/>
              <a:gdLst/>
              <a:ahLst/>
              <a:cxnLst/>
              <a:rect r="r" b="b" t="t" l="l"/>
              <a:pathLst>
                <a:path h="22457" w="813280">
                  <a:moveTo>
                    <a:pt x="0" y="0"/>
                  </a:moveTo>
                  <a:lnTo>
                    <a:pt x="813280" y="0"/>
                  </a:lnTo>
                  <a:lnTo>
                    <a:pt x="813280" y="22457"/>
                  </a:lnTo>
                  <a:lnTo>
                    <a:pt x="0" y="22457"/>
                  </a:lnTo>
                  <a:close/>
                </a:path>
              </a:pathLst>
            </a:custGeom>
            <a:solidFill>
              <a:srgbClr val="FFFFFF"/>
            </a:solidFill>
          </p:spPr>
        </p:sp>
        <p:sp>
          <p:nvSpPr>
            <p:cNvPr name="TextBox 5" id="5"/>
            <p:cNvSpPr txBox="true"/>
            <p:nvPr/>
          </p:nvSpPr>
          <p:spPr>
            <a:xfrm>
              <a:off x="0" y="-38100"/>
              <a:ext cx="813280" cy="6055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1119994" y="1028700"/>
            <a:ext cx="6139306" cy="3087960"/>
            <a:chOff x="0" y="0"/>
            <a:chExt cx="8185741" cy="4117279"/>
          </a:xfrm>
        </p:grpSpPr>
        <p:pic>
          <p:nvPicPr>
            <p:cNvPr name="Picture 7" id="7"/>
            <p:cNvPicPr>
              <a:picLocks noChangeAspect="true"/>
            </p:cNvPicPr>
            <p:nvPr/>
          </p:nvPicPr>
          <p:blipFill>
            <a:blip r:embed="rId4"/>
            <a:srcRect l="0" t="1982" r="0" b="1982"/>
            <a:stretch>
              <a:fillRect/>
            </a:stretch>
          </p:blipFill>
          <p:spPr>
            <a:xfrm flipH="false" flipV="false">
              <a:off x="0" y="0"/>
              <a:ext cx="8185741" cy="4117279"/>
            </a:xfrm>
            <a:prstGeom prst="rect">
              <a:avLst/>
            </a:prstGeom>
          </p:spPr>
        </p:pic>
      </p:grpSp>
      <p:sp>
        <p:nvSpPr>
          <p:cNvPr name="TextBox 8" id="8"/>
          <p:cNvSpPr txBox="true"/>
          <p:nvPr/>
        </p:nvSpPr>
        <p:spPr>
          <a:xfrm rot="0">
            <a:off x="1271541" y="1724311"/>
            <a:ext cx="9334479" cy="1772975"/>
          </a:xfrm>
          <a:prstGeom prst="rect">
            <a:avLst/>
          </a:prstGeom>
        </p:spPr>
        <p:txBody>
          <a:bodyPr anchor="t" rtlCol="false" tIns="0" lIns="0" bIns="0" rIns="0">
            <a:spAutoFit/>
          </a:bodyPr>
          <a:lstStyle/>
          <a:p>
            <a:pPr algn="l">
              <a:lnSpc>
                <a:spcPts val="7420"/>
              </a:lnSpc>
            </a:pPr>
            <a:r>
              <a:rPr lang="en-US" sz="7000" b="true">
                <a:solidFill>
                  <a:srgbClr val="FFFFFF"/>
                </a:solidFill>
                <a:latin typeface="Stinger Bold"/>
                <a:ea typeface="Stinger Bold"/>
                <a:cs typeface="Stinger Bold"/>
                <a:sym typeface="Stinger Bold"/>
              </a:rPr>
              <a:t>MÔ HÌNH P2P </a:t>
            </a:r>
          </a:p>
          <a:p>
            <a:pPr algn="l">
              <a:lnSpc>
                <a:spcPts val="6360"/>
              </a:lnSpc>
            </a:pPr>
            <a:r>
              <a:rPr lang="en-US" sz="6000" i="true">
                <a:solidFill>
                  <a:srgbClr val="FFFFFF"/>
                </a:solidFill>
                <a:latin typeface="Stinger Italics"/>
                <a:ea typeface="Stinger Italics"/>
                <a:cs typeface="Stinger Italics"/>
                <a:sym typeface="Stinger Italics"/>
              </a:rPr>
              <a:t>(PEER-TO-PEER)</a:t>
            </a:r>
          </a:p>
        </p:txBody>
      </p:sp>
      <p:sp>
        <p:nvSpPr>
          <p:cNvPr name="Freeform 9" id="9"/>
          <p:cNvSpPr/>
          <p:nvPr/>
        </p:nvSpPr>
        <p:spPr>
          <a:xfrm flipH="false" flipV="false" rot="0">
            <a:off x="9033570" y="1058888"/>
            <a:ext cx="854383" cy="994915"/>
          </a:xfrm>
          <a:custGeom>
            <a:avLst/>
            <a:gdLst/>
            <a:ahLst/>
            <a:cxnLst/>
            <a:rect r="r" b="b" t="t" l="l"/>
            <a:pathLst>
              <a:path h="994915" w="854383">
                <a:moveTo>
                  <a:pt x="0" y="0"/>
                </a:moveTo>
                <a:lnTo>
                  <a:pt x="854383" y="0"/>
                </a:lnTo>
                <a:lnTo>
                  <a:pt x="854383" y="994914"/>
                </a:lnTo>
                <a:lnTo>
                  <a:pt x="0" y="9949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839600" y="4554988"/>
            <a:ext cx="16100011" cy="5029217"/>
          </a:xfrm>
          <a:prstGeom prst="rect">
            <a:avLst/>
          </a:prstGeom>
        </p:spPr>
        <p:txBody>
          <a:bodyPr anchor="t" rtlCol="false" tIns="0" lIns="0" bIns="0" rIns="0">
            <a:spAutoFit/>
          </a:bodyPr>
          <a:lstStyle/>
          <a:p>
            <a:pPr algn="just" marL="755652" indent="-377826" lvl="1">
              <a:lnSpc>
                <a:spcPts val="4900"/>
              </a:lnSpc>
              <a:buFont typeface="Arial"/>
              <a:buChar char="•"/>
            </a:pPr>
            <a:r>
              <a:rPr lang="en-US" sz="3500">
                <a:solidFill>
                  <a:srgbClr val="FFFFFF"/>
                </a:solidFill>
                <a:latin typeface="Stinger"/>
                <a:ea typeface="Stinger"/>
                <a:cs typeface="Stinger"/>
                <a:sym typeface="Stinger"/>
              </a:rPr>
              <a:t>Là một kiến trúc mạng trong đó mỗi nút (node) trong hệ thống đóng vai trò vừa là máy khách (client) vừa là máy chủ (server)</a:t>
            </a:r>
          </a:p>
          <a:p>
            <a:pPr algn="just">
              <a:lnSpc>
                <a:spcPts val="4900"/>
              </a:lnSpc>
            </a:pPr>
          </a:p>
          <a:p>
            <a:pPr algn="just" marL="755652" indent="-377826" lvl="1">
              <a:lnSpc>
                <a:spcPts val="4900"/>
              </a:lnSpc>
              <a:buFont typeface="Arial"/>
              <a:buChar char="•"/>
            </a:pPr>
            <a:r>
              <a:rPr lang="en-US" sz="3500">
                <a:solidFill>
                  <a:srgbClr val="FFFFFF"/>
                </a:solidFill>
                <a:latin typeface="Stinger"/>
                <a:ea typeface="Stinger"/>
                <a:cs typeface="Stinger"/>
                <a:sym typeface="Stinger"/>
              </a:rPr>
              <a:t>Ưu điểm: </a:t>
            </a:r>
            <a:r>
              <a:rPr lang="en-US" sz="3500">
                <a:solidFill>
                  <a:srgbClr val="FFFFFF"/>
                </a:solidFill>
                <a:latin typeface="Stinger"/>
                <a:ea typeface="Stinger"/>
                <a:cs typeface="Stinger"/>
                <a:sym typeface="Stinger"/>
              </a:rPr>
              <a:t>Cho phép các peer giao tiếp trực tiếp, giảm thiểu độ trễ, tránh tình trạng quá tải tại máy chủ, và tăng tính phân tán cho hệ thống.</a:t>
            </a:r>
          </a:p>
          <a:p>
            <a:pPr algn="just" marL="755652" indent="-377826" lvl="1">
              <a:lnSpc>
                <a:spcPts val="4900"/>
              </a:lnSpc>
              <a:buFont typeface="Arial"/>
              <a:buChar char="•"/>
            </a:pPr>
            <a:r>
              <a:rPr lang="en-US" sz="3500">
                <a:solidFill>
                  <a:srgbClr val="FFDE59"/>
                </a:solidFill>
                <a:latin typeface="Stinger"/>
                <a:ea typeface="Stinger"/>
                <a:cs typeface="Stinger"/>
                <a:sym typeface="Stinger"/>
              </a:rPr>
              <a:t>Hạn chế:</a:t>
            </a:r>
            <a:r>
              <a:rPr lang="en-US" sz="3500">
                <a:solidFill>
                  <a:srgbClr val="FFFFFF"/>
                </a:solidFill>
                <a:latin typeface="Stinger"/>
                <a:ea typeface="Stinger"/>
                <a:cs typeface="Stinger"/>
                <a:sym typeface="Stinger"/>
              </a:rPr>
              <a:t> Trong bảo mật, quản lý, khả năng mở rộng, chất lượng dịch vụ không đồng đều và dễ bị lợi dụng để chia sẻ nội dung vi phạm.</a:t>
            </a:r>
          </a:p>
          <a:p>
            <a:pPr algn="l">
              <a:lnSpc>
                <a:spcPts val="559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9428196">
            <a:off x="-3094374" y="-3685771"/>
            <a:ext cx="13691661" cy="7990951"/>
          </a:xfrm>
          <a:custGeom>
            <a:avLst/>
            <a:gdLst/>
            <a:ahLst/>
            <a:cxnLst/>
            <a:rect r="r" b="b" t="t" l="l"/>
            <a:pathLst>
              <a:path h="7990951" w="13691661">
                <a:moveTo>
                  <a:pt x="0" y="0"/>
                </a:moveTo>
                <a:lnTo>
                  <a:pt x="13691661" y="0"/>
                </a:lnTo>
                <a:lnTo>
                  <a:pt x="13691661" y="7990951"/>
                </a:lnTo>
                <a:lnTo>
                  <a:pt x="0" y="7990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1576" y="6466990"/>
            <a:ext cx="854383" cy="994915"/>
          </a:xfrm>
          <a:custGeom>
            <a:avLst/>
            <a:gdLst/>
            <a:ahLst/>
            <a:cxnLst/>
            <a:rect r="r" b="b" t="t" l="l"/>
            <a:pathLst>
              <a:path h="994915" w="854383">
                <a:moveTo>
                  <a:pt x="0" y="0"/>
                </a:moveTo>
                <a:lnTo>
                  <a:pt x="854383" y="0"/>
                </a:lnTo>
                <a:lnTo>
                  <a:pt x="854383" y="994914"/>
                </a:lnTo>
                <a:lnTo>
                  <a:pt x="0" y="9949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Object 4" id="4"/>
          <p:cNvGraphicFramePr/>
          <p:nvPr/>
        </p:nvGraphicFramePr>
        <p:xfrm>
          <a:off x="1386208" y="3446087"/>
          <a:ext cx="5734050" cy="3114580"/>
        </p:xfrm>
        <a:graphic>
          <a:graphicData uri="http://schemas.openxmlformats.org/presentationml/2006/ole">
            <p:oleObj imgW="6870700" imgH="42545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Freeform 5" id="5"/>
          <p:cNvSpPr/>
          <p:nvPr/>
        </p:nvSpPr>
        <p:spPr>
          <a:xfrm flipH="false" flipV="false" rot="0">
            <a:off x="11280634" y="4365037"/>
            <a:ext cx="5910588" cy="4203906"/>
          </a:xfrm>
          <a:custGeom>
            <a:avLst/>
            <a:gdLst/>
            <a:ahLst/>
            <a:cxnLst/>
            <a:rect r="r" b="b" t="t" l="l"/>
            <a:pathLst>
              <a:path h="4203906" w="5910588">
                <a:moveTo>
                  <a:pt x="0" y="0"/>
                </a:moveTo>
                <a:lnTo>
                  <a:pt x="5910588" y="0"/>
                </a:lnTo>
                <a:lnTo>
                  <a:pt x="5910588" y="4203905"/>
                </a:lnTo>
                <a:lnTo>
                  <a:pt x="0" y="4203905"/>
                </a:lnTo>
                <a:lnTo>
                  <a:pt x="0" y="0"/>
                </a:lnTo>
                <a:close/>
              </a:path>
            </a:pathLst>
          </a:custGeom>
          <a:blipFill>
            <a:blip r:embed="rId8"/>
            <a:stretch>
              <a:fillRect l="0" t="0" r="0" b="0"/>
            </a:stretch>
          </a:blipFill>
        </p:spPr>
      </p:sp>
      <p:sp>
        <p:nvSpPr>
          <p:cNvPr name="TextBox 6" id="6"/>
          <p:cNvSpPr txBox="true"/>
          <p:nvPr/>
        </p:nvSpPr>
        <p:spPr>
          <a:xfrm rot="0">
            <a:off x="1028700" y="829615"/>
            <a:ext cx="12965191" cy="840133"/>
          </a:xfrm>
          <a:prstGeom prst="rect">
            <a:avLst/>
          </a:prstGeom>
        </p:spPr>
        <p:txBody>
          <a:bodyPr anchor="t" rtlCol="false" tIns="0" lIns="0" bIns="0" rIns="0">
            <a:spAutoFit/>
          </a:bodyPr>
          <a:lstStyle/>
          <a:p>
            <a:pPr algn="l">
              <a:lnSpc>
                <a:spcPts val="6360"/>
              </a:lnSpc>
            </a:pPr>
            <a:r>
              <a:rPr lang="en-US" b="true" sz="6000">
                <a:solidFill>
                  <a:srgbClr val="FFFFFF"/>
                </a:solidFill>
                <a:latin typeface="Stinger Bold"/>
                <a:ea typeface="Stinger Bold"/>
                <a:cs typeface="Stinger Bold"/>
                <a:sym typeface="Stinger Bold"/>
              </a:rPr>
              <a:t>GIAO TIẾP TCP TRONG GO </a:t>
            </a:r>
          </a:p>
        </p:txBody>
      </p:sp>
      <p:sp>
        <p:nvSpPr>
          <p:cNvPr name="TextBox 7" id="7"/>
          <p:cNvSpPr txBox="true"/>
          <p:nvPr/>
        </p:nvSpPr>
        <p:spPr>
          <a:xfrm rot="0">
            <a:off x="1096778" y="1584023"/>
            <a:ext cx="16094445" cy="1235075"/>
          </a:xfrm>
          <a:prstGeom prst="rect">
            <a:avLst/>
          </a:prstGeom>
        </p:spPr>
        <p:txBody>
          <a:bodyPr anchor="t" rtlCol="false" tIns="0" lIns="0" bIns="0" rIns="0">
            <a:spAutoFit/>
          </a:bodyPr>
          <a:lstStyle/>
          <a:p>
            <a:pPr algn="l">
              <a:lnSpc>
                <a:spcPts val="4900"/>
              </a:lnSpc>
              <a:spcBef>
                <a:spcPct val="0"/>
              </a:spcBef>
            </a:pPr>
            <a:r>
              <a:rPr lang="en-US" sz="3500">
                <a:solidFill>
                  <a:srgbClr val="FFFFFF"/>
                </a:solidFill>
                <a:latin typeface="Stinger"/>
                <a:ea typeface="Stinger"/>
                <a:cs typeface="Stinger"/>
                <a:sym typeface="Stinger"/>
              </a:rPr>
              <a:t>Golang (Go) là một ngôn ngữ lập trình mạnh mẽ được thiết kế bởi Google, nổi bật với khả năng xử lý đồng thời (concurrency) và lập trình mạng hiệu quả</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2733388" y="3723439"/>
            <a:ext cx="9051824" cy="9151660"/>
          </a:xfrm>
          <a:custGeom>
            <a:avLst/>
            <a:gdLst/>
            <a:ahLst/>
            <a:cxnLst/>
            <a:rect r="r" b="b" t="t" l="l"/>
            <a:pathLst>
              <a:path h="9151660" w="9051824">
                <a:moveTo>
                  <a:pt x="0" y="0"/>
                </a:moveTo>
                <a:lnTo>
                  <a:pt x="9051824" y="0"/>
                </a:lnTo>
                <a:lnTo>
                  <a:pt x="9051824" y="9151660"/>
                </a:lnTo>
                <a:lnTo>
                  <a:pt x="0" y="91516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857478" y="2453822"/>
            <a:ext cx="4802673" cy="0"/>
          </a:xfrm>
          <a:prstGeom prst="line">
            <a:avLst/>
          </a:prstGeom>
          <a:ln cap="flat" w="66675">
            <a:solidFill>
              <a:srgbClr val="1C53A3"/>
            </a:solidFill>
            <a:prstDash val="solid"/>
            <a:headEnd type="none" len="sm" w="sm"/>
            <a:tailEnd type="none" len="sm" w="sm"/>
          </a:ln>
        </p:spPr>
      </p:sp>
      <p:sp>
        <p:nvSpPr>
          <p:cNvPr name="TextBox 4" id="4"/>
          <p:cNvSpPr txBox="true"/>
          <p:nvPr/>
        </p:nvSpPr>
        <p:spPr>
          <a:xfrm rot="0">
            <a:off x="857478" y="602249"/>
            <a:ext cx="11345184" cy="1666892"/>
          </a:xfrm>
          <a:prstGeom prst="rect">
            <a:avLst/>
          </a:prstGeom>
        </p:spPr>
        <p:txBody>
          <a:bodyPr anchor="t" rtlCol="false" tIns="0" lIns="0" bIns="0" rIns="0">
            <a:spAutoFit/>
          </a:bodyPr>
          <a:lstStyle/>
          <a:p>
            <a:pPr algn="l">
              <a:lnSpc>
                <a:spcPts val="6480"/>
              </a:lnSpc>
            </a:pPr>
            <a:r>
              <a:rPr lang="en-US" sz="5400">
                <a:solidFill>
                  <a:srgbClr val="1C53A3"/>
                </a:solidFill>
                <a:latin typeface="Stinger"/>
                <a:ea typeface="Stinger"/>
                <a:cs typeface="Stinger"/>
                <a:sym typeface="Stinger"/>
              </a:rPr>
              <a:t>WEBSOCKET VÀ </a:t>
            </a:r>
          </a:p>
          <a:p>
            <a:pPr algn="l">
              <a:lnSpc>
                <a:spcPts val="6600"/>
              </a:lnSpc>
            </a:pPr>
            <a:r>
              <a:rPr lang="en-US" sz="5500">
                <a:solidFill>
                  <a:srgbClr val="1C53A3"/>
                </a:solidFill>
                <a:latin typeface="Stinger"/>
                <a:ea typeface="Stinger"/>
                <a:cs typeface="Stinger"/>
                <a:sym typeface="Stinger"/>
              </a:rPr>
              <a:t>GIAO DIỆN WEB</a:t>
            </a:r>
          </a:p>
        </p:txBody>
      </p:sp>
      <p:sp>
        <p:nvSpPr>
          <p:cNvPr name="TextBox 5" id="5"/>
          <p:cNvSpPr txBox="true"/>
          <p:nvPr/>
        </p:nvSpPr>
        <p:spPr>
          <a:xfrm rot="0">
            <a:off x="857478" y="2525260"/>
            <a:ext cx="15008245" cy="2647950"/>
          </a:xfrm>
          <a:prstGeom prst="rect">
            <a:avLst/>
          </a:prstGeom>
        </p:spPr>
        <p:txBody>
          <a:bodyPr anchor="t" rtlCol="false" tIns="0" lIns="0" bIns="0" rIns="0">
            <a:spAutoFit/>
          </a:bodyPr>
          <a:lstStyle/>
          <a:p>
            <a:pPr algn="l">
              <a:lnSpc>
                <a:spcPts val="5250"/>
              </a:lnSpc>
            </a:pPr>
            <a:r>
              <a:rPr lang="en-US" sz="3500">
                <a:solidFill>
                  <a:srgbClr val="1C53A3"/>
                </a:solidFill>
                <a:latin typeface="Stinger"/>
                <a:ea typeface="Stinger"/>
                <a:cs typeface="Stinger"/>
                <a:sym typeface="Stinger"/>
              </a:rPr>
              <a:t>WebSocket là một giao thức truyền thông hai chiều (full-duplex) chạy trên một kết nối TCP duy nhất, cho phép client và server duy trì kết nối liên tục để trao đổi dữ liệu theo thời gian thực (real-time)</a:t>
            </a:r>
          </a:p>
          <a:p>
            <a:pPr algn="l">
              <a:lnSpc>
                <a:spcPts val="5250"/>
              </a:lnSpc>
            </a:pPr>
          </a:p>
        </p:txBody>
      </p:sp>
      <p:sp>
        <p:nvSpPr>
          <p:cNvPr name="Freeform 6" id="6"/>
          <p:cNvSpPr/>
          <p:nvPr/>
        </p:nvSpPr>
        <p:spPr>
          <a:xfrm flipH="false" flipV="false" rot="0">
            <a:off x="7729771" y="8659318"/>
            <a:ext cx="854383" cy="994915"/>
          </a:xfrm>
          <a:custGeom>
            <a:avLst/>
            <a:gdLst/>
            <a:ahLst/>
            <a:cxnLst/>
            <a:rect r="r" b="b" t="t" l="l"/>
            <a:pathLst>
              <a:path h="994915" w="854383">
                <a:moveTo>
                  <a:pt x="0" y="0"/>
                </a:moveTo>
                <a:lnTo>
                  <a:pt x="854383" y="0"/>
                </a:lnTo>
                <a:lnTo>
                  <a:pt x="854383" y="994915"/>
                </a:lnTo>
                <a:lnTo>
                  <a:pt x="0" y="9949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151373" y="531243"/>
            <a:ext cx="854383" cy="994915"/>
          </a:xfrm>
          <a:custGeom>
            <a:avLst/>
            <a:gdLst/>
            <a:ahLst/>
            <a:cxnLst/>
            <a:rect r="r" b="b" t="t" l="l"/>
            <a:pathLst>
              <a:path h="994915" w="854383">
                <a:moveTo>
                  <a:pt x="0" y="0"/>
                </a:moveTo>
                <a:lnTo>
                  <a:pt x="854383" y="0"/>
                </a:lnTo>
                <a:lnTo>
                  <a:pt x="854383" y="994914"/>
                </a:lnTo>
                <a:lnTo>
                  <a:pt x="0" y="994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Object 8" id="8"/>
          <p:cNvGraphicFramePr/>
          <p:nvPr/>
        </p:nvGraphicFramePr>
        <p:xfrm>
          <a:off x="857478" y="4956106"/>
          <a:ext cx="5410200" cy="2495550"/>
        </p:xfrm>
        <a:graphic>
          <a:graphicData uri="http://schemas.openxmlformats.org/presentationml/2006/ole">
            <p:oleObj imgW="6489700" imgH="35814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9428196">
            <a:off x="-3094374" y="-3685771"/>
            <a:ext cx="13691661" cy="7990951"/>
          </a:xfrm>
          <a:custGeom>
            <a:avLst/>
            <a:gdLst/>
            <a:ahLst/>
            <a:cxnLst/>
            <a:rect r="r" b="b" t="t" l="l"/>
            <a:pathLst>
              <a:path h="7990951" w="13691661">
                <a:moveTo>
                  <a:pt x="0" y="0"/>
                </a:moveTo>
                <a:lnTo>
                  <a:pt x="13691661" y="0"/>
                </a:lnTo>
                <a:lnTo>
                  <a:pt x="13691661" y="7990951"/>
                </a:lnTo>
                <a:lnTo>
                  <a:pt x="0" y="7990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71541" y="2832625"/>
            <a:ext cx="3087922" cy="85266"/>
            <a:chOff x="0" y="0"/>
            <a:chExt cx="813280" cy="22457"/>
          </a:xfrm>
        </p:grpSpPr>
        <p:sp>
          <p:nvSpPr>
            <p:cNvPr name="Freeform 4" id="4"/>
            <p:cNvSpPr/>
            <p:nvPr/>
          </p:nvSpPr>
          <p:spPr>
            <a:xfrm flipH="false" flipV="false" rot="0">
              <a:off x="0" y="0"/>
              <a:ext cx="813280" cy="22457"/>
            </a:xfrm>
            <a:custGeom>
              <a:avLst/>
              <a:gdLst/>
              <a:ahLst/>
              <a:cxnLst/>
              <a:rect r="r" b="b" t="t" l="l"/>
              <a:pathLst>
                <a:path h="22457" w="813280">
                  <a:moveTo>
                    <a:pt x="0" y="0"/>
                  </a:moveTo>
                  <a:lnTo>
                    <a:pt x="813280" y="0"/>
                  </a:lnTo>
                  <a:lnTo>
                    <a:pt x="813280" y="22457"/>
                  </a:lnTo>
                  <a:lnTo>
                    <a:pt x="0" y="22457"/>
                  </a:lnTo>
                  <a:close/>
                </a:path>
              </a:pathLst>
            </a:custGeom>
            <a:solidFill>
              <a:srgbClr val="FFFFFF"/>
            </a:solidFill>
          </p:spPr>
        </p:sp>
        <p:sp>
          <p:nvSpPr>
            <p:cNvPr name="TextBox 5" id="5"/>
            <p:cNvSpPr txBox="true"/>
            <p:nvPr/>
          </p:nvSpPr>
          <p:spPr>
            <a:xfrm>
              <a:off x="0" y="-38100"/>
              <a:ext cx="813280" cy="6055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289810" y="5664768"/>
            <a:ext cx="6139306" cy="4135710"/>
            <a:chOff x="0" y="0"/>
            <a:chExt cx="8185741" cy="5514279"/>
          </a:xfrm>
        </p:grpSpPr>
        <p:pic>
          <p:nvPicPr>
            <p:cNvPr name="Picture 7" id="7"/>
            <p:cNvPicPr>
              <a:picLocks noChangeAspect="true"/>
            </p:cNvPicPr>
            <p:nvPr/>
          </p:nvPicPr>
          <p:blipFill>
            <a:blip r:embed="rId4"/>
            <a:srcRect l="548" t="0" r="548" b="0"/>
            <a:stretch>
              <a:fillRect/>
            </a:stretch>
          </p:blipFill>
          <p:spPr>
            <a:xfrm flipH="false" flipV="false">
              <a:off x="0" y="0"/>
              <a:ext cx="8185741" cy="5514279"/>
            </a:xfrm>
            <a:prstGeom prst="rect">
              <a:avLst/>
            </a:prstGeom>
          </p:spPr>
        </p:pic>
      </p:grpSp>
      <p:sp>
        <p:nvSpPr>
          <p:cNvPr name="TextBox 8" id="8"/>
          <p:cNvSpPr txBox="true"/>
          <p:nvPr/>
        </p:nvSpPr>
        <p:spPr>
          <a:xfrm rot="0">
            <a:off x="1271541" y="1074687"/>
            <a:ext cx="9334479" cy="1497977"/>
          </a:xfrm>
          <a:prstGeom prst="rect">
            <a:avLst/>
          </a:prstGeom>
        </p:spPr>
        <p:txBody>
          <a:bodyPr anchor="t" rtlCol="false" tIns="0" lIns="0" bIns="0" rIns="0">
            <a:spAutoFit/>
          </a:bodyPr>
          <a:lstStyle/>
          <a:p>
            <a:pPr algn="l">
              <a:lnSpc>
                <a:spcPts val="6360"/>
              </a:lnSpc>
            </a:pPr>
            <a:r>
              <a:rPr lang="en-US" sz="6000" b="true">
                <a:solidFill>
                  <a:srgbClr val="FFFFFF"/>
                </a:solidFill>
                <a:latin typeface="Stinger Bold"/>
                <a:ea typeface="Stinger Bold"/>
                <a:cs typeface="Stinger Bold"/>
                <a:sym typeface="Stinger Bold"/>
              </a:rPr>
              <a:t>MÔ HÌNH HYBRID </a:t>
            </a:r>
          </a:p>
          <a:p>
            <a:pPr algn="l">
              <a:lnSpc>
                <a:spcPts val="5300"/>
              </a:lnSpc>
            </a:pPr>
            <a:r>
              <a:rPr lang="en-US" sz="5000" i="true">
                <a:solidFill>
                  <a:srgbClr val="FFFFFF"/>
                </a:solidFill>
                <a:latin typeface="Stinger Italics"/>
                <a:ea typeface="Stinger Italics"/>
                <a:cs typeface="Stinger Italics"/>
                <a:sym typeface="Stinger Italics"/>
              </a:rPr>
              <a:t>(TCP + WEBSOCKET) </a:t>
            </a:r>
          </a:p>
        </p:txBody>
      </p:sp>
      <p:sp>
        <p:nvSpPr>
          <p:cNvPr name="TextBox 9" id="9"/>
          <p:cNvSpPr txBox="true"/>
          <p:nvPr/>
        </p:nvSpPr>
        <p:spPr>
          <a:xfrm rot="0">
            <a:off x="983564" y="3350176"/>
            <a:ext cx="16100011" cy="2552716"/>
          </a:xfrm>
          <a:prstGeom prst="rect">
            <a:avLst/>
          </a:prstGeom>
        </p:spPr>
        <p:txBody>
          <a:bodyPr anchor="t" rtlCol="false" tIns="0" lIns="0" bIns="0" rIns="0">
            <a:spAutoFit/>
          </a:bodyPr>
          <a:lstStyle/>
          <a:p>
            <a:pPr algn="just" marL="755652" indent="-377826" lvl="1">
              <a:lnSpc>
                <a:spcPts val="4900"/>
              </a:lnSpc>
              <a:buFont typeface="Arial"/>
              <a:buChar char="•"/>
            </a:pPr>
            <a:r>
              <a:rPr lang="en-US" sz="3500">
                <a:solidFill>
                  <a:srgbClr val="FFFFFF"/>
                </a:solidFill>
                <a:latin typeface="Stinger"/>
                <a:ea typeface="Stinger"/>
                <a:cs typeface="Stinger"/>
                <a:sym typeface="Stinger"/>
              </a:rPr>
              <a:t>Tối ưu hóa giao tiếp giữa các peer</a:t>
            </a:r>
          </a:p>
          <a:p>
            <a:pPr algn="just" marL="755652" indent="-377826" lvl="1">
              <a:lnSpc>
                <a:spcPts val="4900"/>
              </a:lnSpc>
              <a:buFont typeface="Arial"/>
              <a:buChar char="•"/>
            </a:pPr>
            <a:r>
              <a:rPr lang="en-US" sz="3500">
                <a:solidFill>
                  <a:srgbClr val="FFFFFF"/>
                </a:solidFill>
                <a:latin typeface="Stinger"/>
                <a:ea typeface="Stinger"/>
                <a:cs typeface="Stinger"/>
                <a:sym typeface="Stinger"/>
              </a:rPr>
              <a:t>Hỗ trợ</a:t>
            </a:r>
            <a:r>
              <a:rPr lang="en-US" sz="3500">
                <a:solidFill>
                  <a:srgbClr val="FFFFFF"/>
                </a:solidFill>
                <a:latin typeface="Stinger"/>
                <a:ea typeface="Stinger"/>
                <a:cs typeface="Stinger"/>
                <a:sym typeface="Stinger"/>
              </a:rPr>
              <a:t> giao diện web</a:t>
            </a:r>
          </a:p>
          <a:p>
            <a:pPr algn="just" marL="755652" indent="-377826" lvl="1">
              <a:lnSpc>
                <a:spcPts val="4900"/>
              </a:lnSpc>
              <a:buFont typeface="Arial"/>
              <a:buChar char="•"/>
            </a:pPr>
            <a:r>
              <a:rPr lang="en-US" sz="3500">
                <a:solidFill>
                  <a:srgbClr val="FFFFFF"/>
                </a:solidFill>
                <a:latin typeface="Stinger"/>
                <a:ea typeface="Stinger"/>
                <a:cs typeface="Stinger"/>
                <a:sym typeface="Stinger"/>
              </a:rPr>
              <a:t>Tạo mô hình dễ kiểm thử và triển khai</a:t>
            </a:r>
          </a:p>
          <a:p>
            <a:pPr algn="l">
              <a:lnSpc>
                <a:spcPts val="5599"/>
              </a:lnSpc>
            </a:pPr>
          </a:p>
        </p:txBody>
      </p:sp>
      <p:sp>
        <p:nvSpPr>
          <p:cNvPr name="Freeform 10" id="10"/>
          <p:cNvSpPr/>
          <p:nvPr/>
        </p:nvSpPr>
        <p:spPr>
          <a:xfrm flipH="false" flipV="false" rot="0">
            <a:off x="8179187" y="795431"/>
            <a:ext cx="854383" cy="994915"/>
          </a:xfrm>
          <a:custGeom>
            <a:avLst/>
            <a:gdLst/>
            <a:ahLst/>
            <a:cxnLst/>
            <a:rect r="r" b="b" t="t" l="l"/>
            <a:pathLst>
              <a:path h="994915" w="854383">
                <a:moveTo>
                  <a:pt x="0" y="0"/>
                </a:moveTo>
                <a:lnTo>
                  <a:pt x="854383" y="0"/>
                </a:lnTo>
                <a:lnTo>
                  <a:pt x="854383" y="994915"/>
                </a:lnTo>
                <a:lnTo>
                  <a:pt x="0" y="9949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Object 11" id="11"/>
          <p:cNvGraphicFramePr/>
          <p:nvPr/>
        </p:nvGraphicFramePr>
        <p:xfrm>
          <a:off x="9402887" y="2572680"/>
          <a:ext cx="5734050" cy="2518886"/>
        </p:xfrm>
        <a:graphic>
          <a:graphicData uri="http://schemas.openxmlformats.org/presentationml/2006/ole">
            <p:oleObj imgW="6870700" imgH="36576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08186" y="893235"/>
            <a:ext cx="1971387" cy="8576624"/>
            <a:chOff x="0" y="0"/>
            <a:chExt cx="519213" cy="2258864"/>
          </a:xfrm>
        </p:grpSpPr>
        <p:sp>
          <p:nvSpPr>
            <p:cNvPr name="Freeform 3" id="3"/>
            <p:cNvSpPr/>
            <p:nvPr/>
          </p:nvSpPr>
          <p:spPr>
            <a:xfrm flipH="false" flipV="false" rot="0">
              <a:off x="0" y="0"/>
              <a:ext cx="519213" cy="2258864"/>
            </a:xfrm>
            <a:custGeom>
              <a:avLst/>
              <a:gdLst/>
              <a:ahLst/>
              <a:cxnLst/>
              <a:rect r="r" b="b" t="t" l="l"/>
              <a:pathLst>
                <a:path h="2258864" w="519213">
                  <a:moveTo>
                    <a:pt x="0" y="0"/>
                  </a:moveTo>
                  <a:lnTo>
                    <a:pt x="519213" y="0"/>
                  </a:lnTo>
                  <a:lnTo>
                    <a:pt x="519213" y="2258864"/>
                  </a:lnTo>
                  <a:lnTo>
                    <a:pt x="0" y="2258864"/>
                  </a:lnTo>
                  <a:close/>
                </a:path>
              </a:pathLst>
            </a:custGeom>
            <a:solidFill>
              <a:srgbClr val="1C53A3"/>
            </a:solidFill>
          </p:spPr>
        </p:sp>
        <p:sp>
          <p:nvSpPr>
            <p:cNvPr name="TextBox 4" id="4"/>
            <p:cNvSpPr txBox="true"/>
            <p:nvPr/>
          </p:nvSpPr>
          <p:spPr>
            <a:xfrm>
              <a:off x="0" y="-38100"/>
              <a:ext cx="519213" cy="2296964"/>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3147405" y="1104900"/>
            <a:ext cx="9244212" cy="906102"/>
          </a:xfrm>
          <a:prstGeom prst="rect">
            <a:avLst/>
          </a:prstGeom>
        </p:spPr>
        <p:txBody>
          <a:bodyPr anchor="t" rtlCol="false" tIns="0" lIns="0" bIns="0" rIns="0">
            <a:spAutoFit/>
          </a:bodyPr>
          <a:lstStyle/>
          <a:p>
            <a:pPr algn="l">
              <a:lnSpc>
                <a:spcPts val="6888"/>
              </a:lnSpc>
            </a:pPr>
            <a:r>
              <a:rPr lang="en-US" sz="6498">
                <a:solidFill>
                  <a:srgbClr val="1C53A3"/>
                </a:solidFill>
                <a:latin typeface="Stinger"/>
                <a:ea typeface="Stinger"/>
                <a:cs typeface="Stinger"/>
                <a:sym typeface="Stinger"/>
              </a:rPr>
              <a:t>THIẾT KẾ HỆ THỐNG</a:t>
            </a:r>
          </a:p>
        </p:txBody>
      </p:sp>
      <p:sp>
        <p:nvSpPr>
          <p:cNvPr name="Freeform 6" id="6"/>
          <p:cNvSpPr/>
          <p:nvPr/>
        </p:nvSpPr>
        <p:spPr>
          <a:xfrm flipH="false" flipV="false" rot="-10800000">
            <a:off x="10611544" y="-3888577"/>
            <a:ext cx="11607987" cy="6774843"/>
          </a:xfrm>
          <a:custGeom>
            <a:avLst/>
            <a:gdLst/>
            <a:ahLst/>
            <a:cxnLst/>
            <a:rect r="r" b="b" t="t" l="l"/>
            <a:pathLst>
              <a:path h="6774843" w="11607987">
                <a:moveTo>
                  <a:pt x="0" y="0"/>
                </a:moveTo>
                <a:lnTo>
                  <a:pt x="11607987" y="0"/>
                </a:lnTo>
                <a:lnTo>
                  <a:pt x="11607987" y="6774844"/>
                </a:lnTo>
                <a:lnTo>
                  <a:pt x="0" y="67748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404917" y="8263385"/>
            <a:ext cx="854383" cy="994915"/>
          </a:xfrm>
          <a:custGeom>
            <a:avLst/>
            <a:gdLst/>
            <a:ahLst/>
            <a:cxnLst/>
            <a:rect r="r" b="b" t="t" l="l"/>
            <a:pathLst>
              <a:path h="994915" w="854383">
                <a:moveTo>
                  <a:pt x="0" y="0"/>
                </a:moveTo>
                <a:lnTo>
                  <a:pt x="854383" y="0"/>
                </a:lnTo>
                <a:lnTo>
                  <a:pt x="854383" y="994915"/>
                </a:lnTo>
                <a:lnTo>
                  <a:pt x="0" y="9949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895544" y="2829445"/>
            <a:ext cx="8104697" cy="5704186"/>
          </a:xfrm>
          <a:custGeom>
            <a:avLst/>
            <a:gdLst/>
            <a:ahLst/>
            <a:cxnLst/>
            <a:rect r="r" b="b" t="t" l="l"/>
            <a:pathLst>
              <a:path h="5704186" w="8104697">
                <a:moveTo>
                  <a:pt x="0" y="0"/>
                </a:moveTo>
                <a:lnTo>
                  <a:pt x="8104697" y="0"/>
                </a:lnTo>
                <a:lnTo>
                  <a:pt x="8104697" y="5704186"/>
                </a:lnTo>
                <a:lnTo>
                  <a:pt x="0" y="5704186"/>
                </a:lnTo>
                <a:lnTo>
                  <a:pt x="0" y="0"/>
                </a:lnTo>
                <a:close/>
              </a:path>
            </a:pathLst>
          </a:custGeom>
          <a:blipFill>
            <a:blip r:embed="rId6"/>
            <a:stretch>
              <a:fillRect l="0" t="0" r="0" b="0"/>
            </a:stretch>
          </a:blipFill>
        </p:spPr>
      </p:sp>
      <p:sp>
        <p:nvSpPr>
          <p:cNvPr name="TextBox 9" id="9"/>
          <p:cNvSpPr txBox="true"/>
          <p:nvPr/>
        </p:nvSpPr>
        <p:spPr>
          <a:xfrm rot="0">
            <a:off x="3319137" y="2149978"/>
            <a:ext cx="6752842" cy="679467"/>
          </a:xfrm>
          <a:prstGeom prst="rect">
            <a:avLst/>
          </a:prstGeom>
        </p:spPr>
        <p:txBody>
          <a:bodyPr anchor="t" rtlCol="false" tIns="0" lIns="0" bIns="0" rIns="0">
            <a:spAutoFit/>
          </a:bodyPr>
          <a:lstStyle/>
          <a:p>
            <a:pPr algn="just">
              <a:lnSpc>
                <a:spcPts val="5599"/>
              </a:lnSpc>
            </a:pPr>
            <a:r>
              <a:rPr lang="en-US" sz="3999">
                <a:solidFill>
                  <a:srgbClr val="1C53A3"/>
                </a:solidFill>
                <a:latin typeface="Stinger"/>
                <a:ea typeface="Stinger"/>
                <a:cs typeface="Stinger"/>
                <a:sym typeface="Stinger"/>
              </a:rPr>
              <a:t>Kiến trúc tổng thể</a:t>
            </a:r>
          </a:p>
        </p:txBody>
      </p:sp>
      <p:sp>
        <p:nvSpPr>
          <p:cNvPr name="TextBox 10" id="10"/>
          <p:cNvSpPr txBox="true"/>
          <p:nvPr/>
        </p:nvSpPr>
        <p:spPr>
          <a:xfrm rot="0">
            <a:off x="10849941" y="3116776"/>
            <a:ext cx="6522819" cy="5416854"/>
          </a:xfrm>
          <a:prstGeom prst="rect">
            <a:avLst/>
          </a:prstGeom>
        </p:spPr>
        <p:txBody>
          <a:bodyPr anchor="t" rtlCol="false" tIns="0" lIns="0" bIns="0" rIns="0">
            <a:spAutoFit/>
          </a:bodyPr>
          <a:lstStyle/>
          <a:p>
            <a:pPr algn="l" marL="669293" indent="-334646" lvl="1">
              <a:lnSpc>
                <a:spcPts val="4340"/>
              </a:lnSpc>
              <a:buFont typeface="Arial"/>
              <a:buChar char="•"/>
            </a:pPr>
            <a:r>
              <a:rPr lang="en-US" sz="3100">
                <a:solidFill>
                  <a:srgbClr val="000000"/>
                </a:solidFill>
                <a:latin typeface="Stinger"/>
                <a:ea typeface="Stinger"/>
                <a:cs typeface="Stinger"/>
                <a:sym typeface="Stinger"/>
              </a:rPr>
              <a:t>Mỗi peer có thể vừa gửi vừa nhận dữ liệu từ nhiều peer khác.</a:t>
            </a:r>
          </a:p>
          <a:p>
            <a:pPr algn="l" marL="669293" indent="-334646" lvl="1">
              <a:lnSpc>
                <a:spcPts val="4340"/>
              </a:lnSpc>
              <a:buFont typeface="Arial"/>
              <a:buChar char="•"/>
            </a:pPr>
            <a:r>
              <a:rPr lang="en-US" sz="3100">
                <a:solidFill>
                  <a:srgbClr val="000000"/>
                </a:solidFill>
                <a:latin typeface="Stinger"/>
                <a:ea typeface="Stinger"/>
                <a:cs typeface="Stinger"/>
                <a:sym typeface="Stinger"/>
              </a:rPr>
              <a:t>Mỗi trình duyệt kết nối qua WebSocket đến chính peer local tương ứng.</a:t>
            </a:r>
          </a:p>
          <a:p>
            <a:pPr algn="l" marL="669293" indent="-334646" lvl="1">
              <a:lnSpc>
                <a:spcPts val="4340"/>
              </a:lnSpc>
              <a:buFont typeface="Arial"/>
              <a:buChar char="•"/>
            </a:pPr>
            <a:r>
              <a:rPr lang="en-US" sz="3100">
                <a:solidFill>
                  <a:srgbClr val="000000"/>
                </a:solidFill>
                <a:latin typeface="Stinger"/>
                <a:ea typeface="Stinger"/>
                <a:cs typeface="Stinger"/>
                <a:sym typeface="Stinger"/>
              </a:rPr>
              <a:t>Tất cả tin nhắn được chuyển tiếp qua các peer TCP, sau đó hiển thị trong giao diện web bằng WebSocket.</a:t>
            </a:r>
          </a:p>
          <a:p>
            <a:pPr algn="l">
              <a:lnSpc>
                <a:spcPts val="434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08186" y="893235"/>
            <a:ext cx="1971387" cy="8576624"/>
            <a:chOff x="0" y="0"/>
            <a:chExt cx="519213" cy="2258864"/>
          </a:xfrm>
        </p:grpSpPr>
        <p:sp>
          <p:nvSpPr>
            <p:cNvPr name="Freeform 3" id="3"/>
            <p:cNvSpPr/>
            <p:nvPr/>
          </p:nvSpPr>
          <p:spPr>
            <a:xfrm flipH="false" flipV="false" rot="0">
              <a:off x="0" y="0"/>
              <a:ext cx="519213" cy="2258864"/>
            </a:xfrm>
            <a:custGeom>
              <a:avLst/>
              <a:gdLst/>
              <a:ahLst/>
              <a:cxnLst/>
              <a:rect r="r" b="b" t="t" l="l"/>
              <a:pathLst>
                <a:path h="2258864" w="519213">
                  <a:moveTo>
                    <a:pt x="0" y="0"/>
                  </a:moveTo>
                  <a:lnTo>
                    <a:pt x="519213" y="0"/>
                  </a:lnTo>
                  <a:lnTo>
                    <a:pt x="519213" y="2258864"/>
                  </a:lnTo>
                  <a:lnTo>
                    <a:pt x="0" y="2258864"/>
                  </a:lnTo>
                  <a:close/>
                </a:path>
              </a:pathLst>
            </a:custGeom>
            <a:solidFill>
              <a:srgbClr val="1C53A3"/>
            </a:solidFill>
          </p:spPr>
        </p:sp>
        <p:sp>
          <p:nvSpPr>
            <p:cNvPr name="TextBox 4" id="4"/>
            <p:cNvSpPr txBox="true"/>
            <p:nvPr/>
          </p:nvSpPr>
          <p:spPr>
            <a:xfrm>
              <a:off x="0" y="-38100"/>
              <a:ext cx="519213" cy="2296964"/>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3147405" y="1104900"/>
            <a:ext cx="9244212" cy="906102"/>
          </a:xfrm>
          <a:prstGeom prst="rect">
            <a:avLst/>
          </a:prstGeom>
        </p:spPr>
        <p:txBody>
          <a:bodyPr anchor="t" rtlCol="false" tIns="0" lIns="0" bIns="0" rIns="0">
            <a:spAutoFit/>
          </a:bodyPr>
          <a:lstStyle/>
          <a:p>
            <a:pPr algn="l">
              <a:lnSpc>
                <a:spcPts val="6888"/>
              </a:lnSpc>
            </a:pPr>
            <a:r>
              <a:rPr lang="en-US" sz="6498">
                <a:solidFill>
                  <a:srgbClr val="1C53A3"/>
                </a:solidFill>
                <a:latin typeface="Stinger"/>
                <a:ea typeface="Stinger"/>
                <a:cs typeface="Stinger"/>
                <a:sym typeface="Stinger"/>
              </a:rPr>
              <a:t>THIẾT KẾ HỆ THỐNG</a:t>
            </a:r>
          </a:p>
        </p:txBody>
      </p:sp>
      <p:sp>
        <p:nvSpPr>
          <p:cNvPr name="Freeform 6" id="6"/>
          <p:cNvSpPr/>
          <p:nvPr/>
        </p:nvSpPr>
        <p:spPr>
          <a:xfrm flipH="false" flipV="false" rot="0">
            <a:off x="16404917" y="8263385"/>
            <a:ext cx="854383" cy="994915"/>
          </a:xfrm>
          <a:custGeom>
            <a:avLst/>
            <a:gdLst/>
            <a:ahLst/>
            <a:cxnLst/>
            <a:rect r="r" b="b" t="t" l="l"/>
            <a:pathLst>
              <a:path h="994915" w="854383">
                <a:moveTo>
                  <a:pt x="0" y="0"/>
                </a:moveTo>
                <a:lnTo>
                  <a:pt x="854383" y="0"/>
                </a:lnTo>
                <a:lnTo>
                  <a:pt x="854383" y="994915"/>
                </a:lnTo>
                <a:lnTo>
                  <a:pt x="0" y="994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6590498" y="1816362"/>
            <a:ext cx="11602237" cy="3327138"/>
          </a:xfrm>
          <a:custGeom>
            <a:avLst/>
            <a:gdLst/>
            <a:ahLst/>
            <a:cxnLst/>
            <a:rect r="r" b="b" t="t" l="l"/>
            <a:pathLst>
              <a:path h="3327138" w="11602237">
                <a:moveTo>
                  <a:pt x="0" y="0"/>
                </a:moveTo>
                <a:lnTo>
                  <a:pt x="11602237" y="0"/>
                </a:lnTo>
                <a:lnTo>
                  <a:pt x="11602237" y="3327138"/>
                </a:lnTo>
                <a:lnTo>
                  <a:pt x="0" y="3327138"/>
                </a:lnTo>
                <a:lnTo>
                  <a:pt x="0" y="0"/>
                </a:lnTo>
                <a:close/>
              </a:path>
            </a:pathLst>
          </a:custGeom>
          <a:blipFill>
            <a:blip r:embed="rId4"/>
            <a:stretch>
              <a:fillRect l="0" t="-11151" r="0" b="-102872"/>
            </a:stretch>
          </a:blipFill>
        </p:spPr>
      </p:sp>
      <p:sp>
        <p:nvSpPr>
          <p:cNvPr name="TextBox 8" id="8"/>
          <p:cNvSpPr txBox="true"/>
          <p:nvPr/>
        </p:nvSpPr>
        <p:spPr>
          <a:xfrm rot="0">
            <a:off x="3319137" y="2149978"/>
            <a:ext cx="6752842" cy="679467"/>
          </a:xfrm>
          <a:prstGeom prst="rect">
            <a:avLst/>
          </a:prstGeom>
        </p:spPr>
        <p:txBody>
          <a:bodyPr anchor="t" rtlCol="false" tIns="0" lIns="0" bIns="0" rIns="0">
            <a:spAutoFit/>
          </a:bodyPr>
          <a:lstStyle/>
          <a:p>
            <a:pPr algn="just">
              <a:lnSpc>
                <a:spcPts val="5599"/>
              </a:lnSpc>
            </a:pPr>
            <a:r>
              <a:rPr lang="en-US" sz="3999">
                <a:solidFill>
                  <a:srgbClr val="1C53A3"/>
                </a:solidFill>
                <a:latin typeface="Stinger"/>
                <a:ea typeface="Stinger"/>
                <a:cs typeface="Stinger"/>
                <a:sym typeface="Stinger"/>
              </a:rPr>
              <a:t>Luồng giao tiếp</a:t>
            </a:r>
          </a:p>
        </p:txBody>
      </p:sp>
      <p:sp>
        <p:nvSpPr>
          <p:cNvPr name="TextBox 9" id="9"/>
          <p:cNvSpPr txBox="true"/>
          <p:nvPr/>
        </p:nvSpPr>
        <p:spPr>
          <a:xfrm rot="0">
            <a:off x="3147405" y="5295900"/>
            <a:ext cx="13179124" cy="2702395"/>
          </a:xfrm>
          <a:prstGeom prst="rect">
            <a:avLst/>
          </a:prstGeom>
        </p:spPr>
        <p:txBody>
          <a:bodyPr anchor="t" rtlCol="false" tIns="0" lIns="0" bIns="0" rIns="0">
            <a:spAutoFit/>
          </a:bodyPr>
          <a:lstStyle/>
          <a:p>
            <a:pPr algn="l" marL="669293" indent="-334646" lvl="1">
              <a:lnSpc>
                <a:spcPts val="4340"/>
              </a:lnSpc>
              <a:buFont typeface="Arial"/>
              <a:buChar char="•"/>
            </a:pPr>
            <a:r>
              <a:rPr lang="en-US" sz="3100">
                <a:solidFill>
                  <a:srgbClr val="000000"/>
                </a:solidFill>
                <a:latin typeface="Stinger"/>
                <a:ea typeface="Stinger"/>
                <a:cs typeface="Stinger"/>
                <a:sym typeface="Stinger"/>
              </a:rPr>
              <a:t>Mỗi peer có thể vừa gửi vừa nhận dữ liệu từ nhiều peer khác.</a:t>
            </a:r>
          </a:p>
          <a:p>
            <a:pPr algn="l" marL="669293" indent="-334646" lvl="1">
              <a:lnSpc>
                <a:spcPts val="4340"/>
              </a:lnSpc>
              <a:buFont typeface="Arial"/>
              <a:buChar char="•"/>
            </a:pPr>
            <a:r>
              <a:rPr lang="en-US" sz="3100">
                <a:solidFill>
                  <a:srgbClr val="000000"/>
                </a:solidFill>
                <a:latin typeface="Stinger"/>
                <a:ea typeface="Stinger"/>
                <a:cs typeface="Stinger"/>
                <a:sym typeface="Stinger"/>
              </a:rPr>
              <a:t>Mỗi trình duyệt kết nối qua WebSocket đến chính peer local tương ứng.</a:t>
            </a:r>
          </a:p>
          <a:p>
            <a:pPr algn="l" marL="669293" indent="-334646" lvl="1">
              <a:lnSpc>
                <a:spcPts val="4340"/>
              </a:lnSpc>
              <a:buFont typeface="Arial"/>
              <a:buChar char="•"/>
            </a:pPr>
            <a:r>
              <a:rPr lang="en-US" sz="3100">
                <a:solidFill>
                  <a:srgbClr val="000000"/>
                </a:solidFill>
                <a:latin typeface="Stinger"/>
                <a:ea typeface="Stinger"/>
                <a:cs typeface="Stinger"/>
                <a:sym typeface="Stinger"/>
              </a:rPr>
              <a:t>Tất cả tin nhắn được chuyển tiếp qua các peer TCP, sau đó hiển thị trong giao diện web bằng WebSocket.</a:t>
            </a:r>
          </a:p>
          <a:p>
            <a:pPr algn="l">
              <a:lnSpc>
                <a:spcPts val="434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08186" y="893235"/>
            <a:ext cx="1971387" cy="8576624"/>
            <a:chOff x="0" y="0"/>
            <a:chExt cx="519213" cy="2258864"/>
          </a:xfrm>
        </p:grpSpPr>
        <p:sp>
          <p:nvSpPr>
            <p:cNvPr name="Freeform 3" id="3"/>
            <p:cNvSpPr/>
            <p:nvPr/>
          </p:nvSpPr>
          <p:spPr>
            <a:xfrm flipH="false" flipV="false" rot="0">
              <a:off x="0" y="0"/>
              <a:ext cx="519213" cy="2258864"/>
            </a:xfrm>
            <a:custGeom>
              <a:avLst/>
              <a:gdLst/>
              <a:ahLst/>
              <a:cxnLst/>
              <a:rect r="r" b="b" t="t" l="l"/>
              <a:pathLst>
                <a:path h="2258864" w="519213">
                  <a:moveTo>
                    <a:pt x="0" y="0"/>
                  </a:moveTo>
                  <a:lnTo>
                    <a:pt x="519213" y="0"/>
                  </a:lnTo>
                  <a:lnTo>
                    <a:pt x="519213" y="2258864"/>
                  </a:lnTo>
                  <a:lnTo>
                    <a:pt x="0" y="2258864"/>
                  </a:lnTo>
                  <a:close/>
                </a:path>
              </a:pathLst>
            </a:custGeom>
            <a:solidFill>
              <a:srgbClr val="1C53A3"/>
            </a:solidFill>
          </p:spPr>
        </p:sp>
        <p:sp>
          <p:nvSpPr>
            <p:cNvPr name="TextBox 4" id="4"/>
            <p:cNvSpPr txBox="true"/>
            <p:nvPr/>
          </p:nvSpPr>
          <p:spPr>
            <a:xfrm>
              <a:off x="0" y="-38100"/>
              <a:ext cx="519213" cy="2296964"/>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3075834" y="1411192"/>
            <a:ext cx="9244212" cy="906102"/>
          </a:xfrm>
          <a:prstGeom prst="rect">
            <a:avLst/>
          </a:prstGeom>
        </p:spPr>
        <p:txBody>
          <a:bodyPr anchor="t" rtlCol="false" tIns="0" lIns="0" bIns="0" rIns="0">
            <a:spAutoFit/>
          </a:bodyPr>
          <a:lstStyle/>
          <a:p>
            <a:pPr algn="l">
              <a:lnSpc>
                <a:spcPts val="6888"/>
              </a:lnSpc>
            </a:pPr>
            <a:r>
              <a:rPr lang="en-US" sz="6498">
                <a:solidFill>
                  <a:srgbClr val="1C53A3"/>
                </a:solidFill>
                <a:latin typeface="Stinger"/>
                <a:ea typeface="Stinger"/>
                <a:cs typeface="Stinger"/>
                <a:sym typeface="Stinger"/>
              </a:rPr>
              <a:t>THIẾT KẾ HỆ THỐNG</a:t>
            </a:r>
          </a:p>
        </p:txBody>
      </p:sp>
      <p:sp>
        <p:nvSpPr>
          <p:cNvPr name="Freeform 6" id="6"/>
          <p:cNvSpPr/>
          <p:nvPr/>
        </p:nvSpPr>
        <p:spPr>
          <a:xfrm flipH="false" flipV="false" rot="-10800000">
            <a:off x="10611544" y="-3888577"/>
            <a:ext cx="11607987" cy="6774843"/>
          </a:xfrm>
          <a:custGeom>
            <a:avLst/>
            <a:gdLst/>
            <a:ahLst/>
            <a:cxnLst/>
            <a:rect r="r" b="b" t="t" l="l"/>
            <a:pathLst>
              <a:path h="6774843" w="11607987">
                <a:moveTo>
                  <a:pt x="0" y="0"/>
                </a:moveTo>
                <a:lnTo>
                  <a:pt x="11607987" y="0"/>
                </a:lnTo>
                <a:lnTo>
                  <a:pt x="11607987" y="6774844"/>
                </a:lnTo>
                <a:lnTo>
                  <a:pt x="0" y="67748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404917" y="8263385"/>
            <a:ext cx="854383" cy="994915"/>
          </a:xfrm>
          <a:custGeom>
            <a:avLst/>
            <a:gdLst/>
            <a:ahLst/>
            <a:cxnLst/>
            <a:rect r="r" b="b" t="t" l="l"/>
            <a:pathLst>
              <a:path h="994915" w="854383">
                <a:moveTo>
                  <a:pt x="0" y="0"/>
                </a:moveTo>
                <a:lnTo>
                  <a:pt x="854383" y="0"/>
                </a:lnTo>
                <a:lnTo>
                  <a:pt x="854383" y="994915"/>
                </a:lnTo>
                <a:lnTo>
                  <a:pt x="0" y="9949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3246023" y="2606805"/>
            <a:ext cx="9627156" cy="679467"/>
          </a:xfrm>
          <a:prstGeom prst="rect">
            <a:avLst/>
          </a:prstGeom>
        </p:spPr>
        <p:txBody>
          <a:bodyPr anchor="t" rtlCol="false" tIns="0" lIns="0" bIns="0" rIns="0">
            <a:spAutoFit/>
          </a:bodyPr>
          <a:lstStyle/>
          <a:p>
            <a:pPr algn="just">
              <a:lnSpc>
                <a:spcPts val="5599"/>
              </a:lnSpc>
            </a:pPr>
            <a:r>
              <a:rPr lang="en-US" sz="3999">
                <a:solidFill>
                  <a:srgbClr val="1C53A3"/>
                </a:solidFill>
                <a:latin typeface="Stinger"/>
                <a:ea typeface="Stinger"/>
                <a:cs typeface="Stinger"/>
                <a:sym typeface="Stinger"/>
              </a:rPr>
              <a:t>Thiết kế WebSocket và giao diện người dùng</a:t>
            </a:r>
          </a:p>
        </p:txBody>
      </p:sp>
      <p:sp>
        <p:nvSpPr>
          <p:cNvPr name="TextBox 9" id="9"/>
          <p:cNvSpPr txBox="true"/>
          <p:nvPr/>
        </p:nvSpPr>
        <p:spPr>
          <a:xfrm rot="0">
            <a:off x="3075834" y="3575782"/>
            <a:ext cx="13339704" cy="3589086"/>
          </a:xfrm>
          <a:prstGeom prst="rect">
            <a:avLst/>
          </a:prstGeom>
        </p:spPr>
        <p:txBody>
          <a:bodyPr anchor="t" rtlCol="false" tIns="0" lIns="0" bIns="0" rIns="0">
            <a:spAutoFit/>
          </a:bodyPr>
          <a:lstStyle/>
          <a:p>
            <a:pPr algn="l" marL="647703" indent="-323852" lvl="1">
              <a:lnSpc>
                <a:spcPts val="4200"/>
              </a:lnSpc>
              <a:buFont typeface="Arial"/>
              <a:buChar char="•"/>
            </a:pPr>
            <a:r>
              <a:rPr lang="en-US" sz="3000">
                <a:solidFill>
                  <a:srgbClr val="000000"/>
                </a:solidFill>
                <a:latin typeface="Stinger"/>
                <a:ea typeface="Stinger"/>
                <a:cs typeface="Stinger"/>
                <a:sym typeface="Stinger"/>
              </a:rPr>
              <a:t>Message struct: định dạng dữ liệu trao đổi</a:t>
            </a:r>
          </a:p>
          <a:p>
            <a:pPr algn="l" marL="647703" indent="-323852" lvl="1">
              <a:lnSpc>
                <a:spcPts val="4200"/>
              </a:lnSpc>
              <a:buFont typeface="Arial"/>
              <a:buChar char="•"/>
            </a:pPr>
            <a:r>
              <a:rPr lang="en-US" sz="3000">
                <a:solidFill>
                  <a:srgbClr val="000000"/>
                </a:solidFill>
                <a:latin typeface="Stinger"/>
                <a:ea typeface="Stinger"/>
                <a:cs typeface="Stinger"/>
                <a:sym typeface="Stinger"/>
              </a:rPr>
              <a:t>Các hàm chính:</a:t>
            </a:r>
          </a:p>
          <a:p>
            <a:pPr algn="l">
              <a:lnSpc>
                <a:spcPts val="3360"/>
              </a:lnSpc>
            </a:pPr>
            <a:r>
              <a:rPr lang="en-US" sz="2400">
                <a:solidFill>
                  <a:srgbClr val="000000"/>
                </a:solidFill>
                <a:latin typeface="Montserrat"/>
                <a:ea typeface="Montserrat"/>
                <a:cs typeface="Montserrat"/>
                <a:sym typeface="Montserrat"/>
              </a:rPr>
              <a:t>          </a:t>
            </a:r>
            <a:r>
              <a:rPr lang="en-US" sz="2400" b="true">
                <a:solidFill>
                  <a:srgbClr val="000000"/>
                </a:solidFill>
                <a:latin typeface="Montserrat Medium"/>
                <a:ea typeface="Montserrat Medium"/>
                <a:cs typeface="Montserrat Medium"/>
                <a:sym typeface="Montserrat Medium"/>
              </a:rPr>
              <a:t> </a:t>
            </a:r>
            <a:r>
              <a:rPr lang="en-US" sz="2400" b="true">
                <a:solidFill>
                  <a:srgbClr val="000000"/>
                </a:solidFill>
                <a:latin typeface="Montserrat Medium"/>
                <a:ea typeface="Montserrat Medium"/>
                <a:cs typeface="Montserrat Medium"/>
                <a:sym typeface="Montserrat Medium"/>
              </a:rPr>
              <a:t>main( )</a:t>
            </a:r>
          </a:p>
          <a:p>
            <a:pPr algn="l">
              <a:lnSpc>
                <a:spcPts val="3360"/>
              </a:lnSpc>
            </a:pPr>
            <a:r>
              <a:rPr lang="en-US" sz="2400" b="true">
                <a:solidFill>
                  <a:srgbClr val="000000"/>
                </a:solidFill>
                <a:latin typeface="Montserrat Medium"/>
                <a:ea typeface="Montserrat Medium"/>
                <a:cs typeface="Montserrat Medium"/>
                <a:sym typeface="Montserrat Medium"/>
              </a:rPr>
              <a:t>           handlePeerConnection( )</a:t>
            </a:r>
          </a:p>
          <a:p>
            <a:pPr algn="l">
              <a:lnSpc>
                <a:spcPts val="3360"/>
              </a:lnSpc>
            </a:pPr>
            <a:r>
              <a:rPr lang="en-US" sz="2400" b="true">
                <a:solidFill>
                  <a:srgbClr val="000000"/>
                </a:solidFill>
                <a:latin typeface="Montserrat Medium"/>
                <a:ea typeface="Montserrat Medium"/>
                <a:cs typeface="Montserrat Medium"/>
                <a:sym typeface="Montserrat Medium"/>
              </a:rPr>
              <a:t>           </a:t>
            </a:r>
            <a:r>
              <a:rPr lang="en-US" sz="2400" b="true">
                <a:solidFill>
                  <a:srgbClr val="000000"/>
                </a:solidFill>
                <a:latin typeface="Montserrat Medium"/>
                <a:ea typeface="Montserrat Medium"/>
                <a:cs typeface="Montserrat Medium"/>
                <a:sym typeface="Montserrat Medium"/>
              </a:rPr>
              <a:t>l</a:t>
            </a:r>
            <a:r>
              <a:rPr lang="en-US" sz="2400" b="true">
                <a:solidFill>
                  <a:srgbClr val="000000"/>
                </a:solidFill>
                <a:latin typeface="Montserrat Medium"/>
                <a:ea typeface="Montserrat Medium"/>
                <a:cs typeface="Montserrat Medium"/>
                <a:sym typeface="Montserrat Medium"/>
              </a:rPr>
              <a:t>istenTCP( )</a:t>
            </a:r>
          </a:p>
          <a:p>
            <a:pPr algn="l">
              <a:lnSpc>
                <a:spcPts val="3360"/>
              </a:lnSpc>
            </a:pPr>
            <a:r>
              <a:rPr lang="en-US" sz="2400" b="true">
                <a:solidFill>
                  <a:srgbClr val="000000"/>
                </a:solidFill>
                <a:latin typeface="Montserrat Medium"/>
                <a:ea typeface="Montserrat Medium"/>
                <a:cs typeface="Montserrat Medium"/>
                <a:sym typeface="Montserrat Medium"/>
              </a:rPr>
              <a:t>           handleWS(), handleBroadcast( )</a:t>
            </a:r>
          </a:p>
          <a:p>
            <a:pPr algn="l">
              <a:lnSpc>
                <a:spcPts val="3360"/>
              </a:lnSpc>
            </a:pPr>
            <a:r>
              <a:rPr lang="en-US" sz="2400" b="true">
                <a:solidFill>
                  <a:srgbClr val="000000"/>
                </a:solidFill>
                <a:latin typeface="Montserrat Medium"/>
                <a:ea typeface="Montserrat Medium"/>
                <a:cs typeface="Montserrat Medium"/>
                <a:sym typeface="Montserrat Medium"/>
              </a:rPr>
              <a:t>           serveFrontend( )</a:t>
            </a:r>
          </a:p>
          <a:p>
            <a:pPr algn="l">
              <a:lnSpc>
                <a:spcPts val="336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4466992">
            <a:off x="12956278" y="-1374835"/>
            <a:ext cx="13691661" cy="7990951"/>
          </a:xfrm>
          <a:custGeom>
            <a:avLst/>
            <a:gdLst/>
            <a:ahLst/>
            <a:cxnLst/>
            <a:rect r="r" b="b" t="t" l="l"/>
            <a:pathLst>
              <a:path h="7990951" w="13691661">
                <a:moveTo>
                  <a:pt x="0" y="0"/>
                </a:moveTo>
                <a:lnTo>
                  <a:pt x="13691661" y="0"/>
                </a:lnTo>
                <a:lnTo>
                  <a:pt x="13691661" y="7990951"/>
                </a:lnTo>
                <a:lnTo>
                  <a:pt x="0" y="7990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148668"/>
            <a:ext cx="18969026" cy="3271851"/>
            <a:chOff x="0" y="0"/>
            <a:chExt cx="4995957" cy="861722"/>
          </a:xfrm>
        </p:grpSpPr>
        <p:sp>
          <p:nvSpPr>
            <p:cNvPr name="Freeform 4" id="4"/>
            <p:cNvSpPr/>
            <p:nvPr/>
          </p:nvSpPr>
          <p:spPr>
            <a:xfrm flipH="false" flipV="false" rot="0">
              <a:off x="0" y="0"/>
              <a:ext cx="4995957" cy="861722"/>
            </a:xfrm>
            <a:custGeom>
              <a:avLst/>
              <a:gdLst/>
              <a:ahLst/>
              <a:cxnLst/>
              <a:rect r="r" b="b" t="t" l="l"/>
              <a:pathLst>
                <a:path h="861722" w="4995957">
                  <a:moveTo>
                    <a:pt x="0" y="0"/>
                  </a:moveTo>
                  <a:lnTo>
                    <a:pt x="4995957" y="0"/>
                  </a:lnTo>
                  <a:lnTo>
                    <a:pt x="4995957" y="861722"/>
                  </a:lnTo>
                  <a:lnTo>
                    <a:pt x="0" y="861722"/>
                  </a:lnTo>
                  <a:close/>
                </a:path>
              </a:pathLst>
            </a:custGeom>
            <a:solidFill>
              <a:srgbClr val="FFFFFF"/>
            </a:solidFill>
          </p:spPr>
        </p:sp>
        <p:sp>
          <p:nvSpPr>
            <p:cNvPr name="TextBox 5" id="5"/>
            <p:cNvSpPr txBox="true"/>
            <p:nvPr/>
          </p:nvSpPr>
          <p:spPr>
            <a:xfrm>
              <a:off x="0" y="-38100"/>
              <a:ext cx="4995957" cy="89982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7130403">
            <a:off x="-8285664" y="4151387"/>
            <a:ext cx="13691661" cy="7990951"/>
          </a:xfrm>
          <a:custGeom>
            <a:avLst/>
            <a:gdLst/>
            <a:ahLst/>
            <a:cxnLst/>
            <a:rect r="r" b="b" t="t" l="l"/>
            <a:pathLst>
              <a:path h="7990951" w="13691661">
                <a:moveTo>
                  <a:pt x="0" y="0"/>
                </a:moveTo>
                <a:lnTo>
                  <a:pt x="13691661" y="0"/>
                </a:lnTo>
                <a:lnTo>
                  <a:pt x="13691661" y="7990951"/>
                </a:lnTo>
                <a:lnTo>
                  <a:pt x="0" y="7990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068965" y="1625725"/>
            <a:ext cx="854383" cy="994915"/>
          </a:xfrm>
          <a:custGeom>
            <a:avLst/>
            <a:gdLst/>
            <a:ahLst/>
            <a:cxnLst/>
            <a:rect r="r" b="b" t="t" l="l"/>
            <a:pathLst>
              <a:path h="994915" w="854383">
                <a:moveTo>
                  <a:pt x="0" y="0"/>
                </a:moveTo>
                <a:lnTo>
                  <a:pt x="854383" y="0"/>
                </a:lnTo>
                <a:lnTo>
                  <a:pt x="854383" y="994915"/>
                </a:lnTo>
                <a:lnTo>
                  <a:pt x="0" y="9949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123109" y="4214505"/>
            <a:ext cx="13769857" cy="1480260"/>
          </a:xfrm>
          <a:custGeom>
            <a:avLst/>
            <a:gdLst/>
            <a:ahLst/>
            <a:cxnLst/>
            <a:rect r="r" b="b" t="t" l="l"/>
            <a:pathLst>
              <a:path h="1480260" w="13769857">
                <a:moveTo>
                  <a:pt x="0" y="0"/>
                </a:moveTo>
                <a:lnTo>
                  <a:pt x="13769857" y="0"/>
                </a:lnTo>
                <a:lnTo>
                  <a:pt x="13769857" y="1480260"/>
                </a:lnTo>
                <a:lnTo>
                  <a:pt x="0" y="1480260"/>
                </a:lnTo>
                <a:lnTo>
                  <a:pt x="0" y="0"/>
                </a:lnTo>
                <a:close/>
              </a:path>
            </a:pathLst>
          </a:custGeom>
          <a:blipFill>
            <a:blip r:embed="rId6"/>
            <a:stretch>
              <a:fillRect l="0" t="0" r="0" b="0"/>
            </a:stretch>
          </a:blipFill>
        </p:spPr>
      </p:sp>
      <p:sp>
        <p:nvSpPr>
          <p:cNvPr name="Freeform 9" id="9"/>
          <p:cNvSpPr/>
          <p:nvPr/>
        </p:nvSpPr>
        <p:spPr>
          <a:xfrm flipH="false" flipV="false" rot="0">
            <a:off x="2123109" y="7042479"/>
            <a:ext cx="13769857" cy="1755657"/>
          </a:xfrm>
          <a:custGeom>
            <a:avLst/>
            <a:gdLst/>
            <a:ahLst/>
            <a:cxnLst/>
            <a:rect r="r" b="b" t="t" l="l"/>
            <a:pathLst>
              <a:path h="1755657" w="13769857">
                <a:moveTo>
                  <a:pt x="0" y="0"/>
                </a:moveTo>
                <a:lnTo>
                  <a:pt x="13769857" y="0"/>
                </a:lnTo>
                <a:lnTo>
                  <a:pt x="13769857" y="1755657"/>
                </a:lnTo>
                <a:lnTo>
                  <a:pt x="0" y="1755657"/>
                </a:lnTo>
                <a:lnTo>
                  <a:pt x="0" y="0"/>
                </a:lnTo>
                <a:close/>
              </a:path>
            </a:pathLst>
          </a:custGeom>
          <a:blipFill>
            <a:blip r:embed="rId7"/>
            <a:stretch>
              <a:fillRect l="0" t="0" r="0" b="0"/>
            </a:stretch>
          </a:blipFill>
        </p:spPr>
      </p:sp>
      <p:sp>
        <p:nvSpPr>
          <p:cNvPr name="TextBox 10" id="10"/>
          <p:cNvSpPr txBox="true"/>
          <p:nvPr/>
        </p:nvSpPr>
        <p:spPr>
          <a:xfrm rot="0">
            <a:off x="1028700" y="578008"/>
            <a:ext cx="10704306" cy="1047717"/>
          </a:xfrm>
          <a:prstGeom prst="rect">
            <a:avLst/>
          </a:prstGeom>
        </p:spPr>
        <p:txBody>
          <a:bodyPr anchor="t" rtlCol="false" tIns="0" lIns="0" bIns="0" rIns="0">
            <a:spAutoFit/>
          </a:bodyPr>
          <a:lstStyle/>
          <a:p>
            <a:pPr algn="l">
              <a:lnSpc>
                <a:spcPts val="8400"/>
              </a:lnSpc>
            </a:pPr>
            <a:r>
              <a:rPr lang="en-US" sz="6000" b="true">
                <a:solidFill>
                  <a:srgbClr val="184C99"/>
                </a:solidFill>
                <a:latin typeface="Stinger Bold"/>
                <a:ea typeface="Stinger Bold"/>
                <a:cs typeface="Stinger Bold"/>
                <a:sym typeface="Stinger Bold"/>
              </a:rPr>
              <a:t>KẾT QUẢ THỰC NGHIỆM</a:t>
            </a:r>
          </a:p>
        </p:txBody>
      </p:sp>
      <p:sp>
        <p:nvSpPr>
          <p:cNvPr name="TextBox 11" id="11"/>
          <p:cNvSpPr txBox="true"/>
          <p:nvPr/>
        </p:nvSpPr>
        <p:spPr>
          <a:xfrm rot="0">
            <a:off x="1028700" y="3384573"/>
            <a:ext cx="14518350" cy="1127126"/>
          </a:xfrm>
          <a:prstGeom prst="rect">
            <a:avLst/>
          </a:prstGeom>
        </p:spPr>
        <p:txBody>
          <a:bodyPr anchor="t" rtlCol="false" tIns="0" lIns="0" bIns="0" rIns="0">
            <a:spAutoFit/>
          </a:bodyPr>
          <a:lstStyle/>
          <a:p>
            <a:pPr algn="l">
              <a:lnSpc>
                <a:spcPts val="4899"/>
              </a:lnSpc>
              <a:spcBef>
                <a:spcPct val="0"/>
              </a:spcBef>
            </a:pPr>
            <a:r>
              <a:rPr lang="en-US" sz="3499">
                <a:solidFill>
                  <a:srgbClr val="FFFFFF"/>
                </a:solidFill>
                <a:latin typeface="Stinger"/>
                <a:ea typeface="Stinger"/>
                <a:cs typeface="Stinger"/>
                <a:sym typeface="Stinger"/>
              </a:rPr>
              <a:t>Terminal 1 (Peer 1 - Alice): go run hybrid_p2p_gui_chat.go Alice 8000 none 8080</a:t>
            </a:r>
          </a:p>
          <a:p>
            <a:pPr algn="l">
              <a:lnSpc>
                <a:spcPts val="4199"/>
              </a:lnSpc>
              <a:spcBef>
                <a:spcPct val="0"/>
              </a:spcBef>
            </a:pPr>
          </a:p>
        </p:txBody>
      </p:sp>
      <p:sp>
        <p:nvSpPr>
          <p:cNvPr name="TextBox 12" id="12"/>
          <p:cNvSpPr txBox="true"/>
          <p:nvPr/>
        </p:nvSpPr>
        <p:spPr>
          <a:xfrm rot="0">
            <a:off x="1028700" y="6270546"/>
            <a:ext cx="15958675" cy="596901"/>
          </a:xfrm>
          <a:prstGeom prst="rect">
            <a:avLst/>
          </a:prstGeom>
        </p:spPr>
        <p:txBody>
          <a:bodyPr anchor="t" rtlCol="false" tIns="0" lIns="0" bIns="0" rIns="0">
            <a:spAutoFit/>
          </a:bodyPr>
          <a:lstStyle/>
          <a:p>
            <a:pPr algn="l">
              <a:lnSpc>
                <a:spcPts val="4899"/>
              </a:lnSpc>
              <a:spcBef>
                <a:spcPct val="0"/>
              </a:spcBef>
            </a:pPr>
            <a:r>
              <a:rPr lang="en-US" sz="3499">
                <a:solidFill>
                  <a:srgbClr val="FFFFFF"/>
                </a:solidFill>
                <a:latin typeface="Stinger"/>
                <a:ea typeface="Stinger"/>
                <a:cs typeface="Stinger"/>
                <a:sym typeface="Stinger"/>
              </a:rPr>
              <a:t>Terminal 2 (Peer 2 - Bob): go run hybrid_p2p_gui_chat.go Bob 8001 127.0.0.1:8000 8081</a:t>
            </a:r>
          </a:p>
        </p:txBody>
      </p:sp>
      <p:sp>
        <p:nvSpPr>
          <p:cNvPr name="TextBox 13" id="13"/>
          <p:cNvSpPr txBox="true"/>
          <p:nvPr/>
        </p:nvSpPr>
        <p:spPr>
          <a:xfrm rot="0">
            <a:off x="1028700" y="2534915"/>
            <a:ext cx="10704306" cy="688990"/>
          </a:xfrm>
          <a:prstGeom prst="rect">
            <a:avLst/>
          </a:prstGeom>
        </p:spPr>
        <p:txBody>
          <a:bodyPr anchor="t" rtlCol="false" tIns="0" lIns="0" bIns="0" rIns="0">
            <a:spAutoFit/>
          </a:bodyPr>
          <a:lstStyle/>
          <a:p>
            <a:pPr algn="l" marL="863611" indent="-431805" lvl="1">
              <a:lnSpc>
                <a:spcPts val="5600"/>
              </a:lnSpc>
              <a:buFont typeface="Arial"/>
              <a:buChar char="•"/>
            </a:pPr>
            <a:r>
              <a:rPr lang="en-US" b="true" sz="4000">
                <a:solidFill>
                  <a:srgbClr val="FFFFFF"/>
                </a:solidFill>
                <a:latin typeface="Stinger Bold"/>
                <a:ea typeface="Stinger Bold"/>
                <a:cs typeface="Stinger Bold"/>
                <a:sym typeface="Stinger Bold"/>
              </a:rPr>
              <a:t>TRƯỜNG HỢP 2 PEER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4466992">
            <a:off x="12956278" y="-1374835"/>
            <a:ext cx="13691661" cy="7990951"/>
          </a:xfrm>
          <a:custGeom>
            <a:avLst/>
            <a:gdLst/>
            <a:ahLst/>
            <a:cxnLst/>
            <a:rect r="r" b="b" t="t" l="l"/>
            <a:pathLst>
              <a:path h="7990951" w="13691661">
                <a:moveTo>
                  <a:pt x="0" y="0"/>
                </a:moveTo>
                <a:lnTo>
                  <a:pt x="13691661" y="0"/>
                </a:lnTo>
                <a:lnTo>
                  <a:pt x="13691661" y="7990951"/>
                </a:lnTo>
                <a:lnTo>
                  <a:pt x="0" y="7990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148668"/>
            <a:ext cx="18969026" cy="3271851"/>
            <a:chOff x="0" y="0"/>
            <a:chExt cx="4995957" cy="861722"/>
          </a:xfrm>
        </p:grpSpPr>
        <p:sp>
          <p:nvSpPr>
            <p:cNvPr name="Freeform 4" id="4"/>
            <p:cNvSpPr/>
            <p:nvPr/>
          </p:nvSpPr>
          <p:spPr>
            <a:xfrm flipH="false" flipV="false" rot="0">
              <a:off x="0" y="0"/>
              <a:ext cx="4995957" cy="861722"/>
            </a:xfrm>
            <a:custGeom>
              <a:avLst/>
              <a:gdLst/>
              <a:ahLst/>
              <a:cxnLst/>
              <a:rect r="r" b="b" t="t" l="l"/>
              <a:pathLst>
                <a:path h="861722" w="4995957">
                  <a:moveTo>
                    <a:pt x="0" y="0"/>
                  </a:moveTo>
                  <a:lnTo>
                    <a:pt x="4995957" y="0"/>
                  </a:lnTo>
                  <a:lnTo>
                    <a:pt x="4995957" y="861722"/>
                  </a:lnTo>
                  <a:lnTo>
                    <a:pt x="0" y="861722"/>
                  </a:lnTo>
                  <a:close/>
                </a:path>
              </a:pathLst>
            </a:custGeom>
            <a:solidFill>
              <a:srgbClr val="FFFFFF"/>
            </a:solidFill>
          </p:spPr>
        </p:sp>
        <p:sp>
          <p:nvSpPr>
            <p:cNvPr name="TextBox 5" id="5"/>
            <p:cNvSpPr txBox="true"/>
            <p:nvPr/>
          </p:nvSpPr>
          <p:spPr>
            <a:xfrm>
              <a:off x="0" y="-38100"/>
              <a:ext cx="4995957" cy="89982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7130403">
            <a:off x="-8285664" y="4151387"/>
            <a:ext cx="13691661" cy="7990951"/>
          </a:xfrm>
          <a:custGeom>
            <a:avLst/>
            <a:gdLst/>
            <a:ahLst/>
            <a:cxnLst/>
            <a:rect r="r" b="b" t="t" l="l"/>
            <a:pathLst>
              <a:path h="7990951" w="13691661">
                <a:moveTo>
                  <a:pt x="0" y="0"/>
                </a:moveTo>
                <a:lnTo>
                  <a:pt x="13691661" y="0"/>
                </a:lnTo>
                <a:lnTo>
                  <a:pt x="13691661" y="7990951"/>
                </a:lnTo>
                <a:lnTo>
                  <a:pt x="0" y="7990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068965" y="1625725"/>
            <a:ext cx="854383" cy="994915"/>
          </a:xfrm>
          <a:custGeom>
            <a:avLst/>
            <a:gdLst/>
            <a:ahLst/>
            <a:cxnLst/>
            <a:rect r="r" b="b" t="t" l="l"/>
            <a:pathLst>
              <a:path h="994915" w="854383">
                <a:moveTo>
                  <a:pt x="0" y="0"/>
                </a:moveTo>
                <a:lnTo>
                  <a:pt x="854383" y="0"/>
                </a:lnTo>
                <a:lnTo>
                  <a:pt x="854383" y="994915"/>
                </a:lnTo>
                <a:lnTo>
                  <a:pt x="0" y="9949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440606" y="3392238"/>
            <a:ext cx="13406788" cy="3502523"/>
          </a:xfrm>
          <a:custGeom>
            <a:avLst/>
            <a:gdLst/>
            <a:ahLst/>
            <a:cxnLst/>
            <a:rect r="r" b="b" t="t" l="l"/>
            <a:pathLst>
              <a:path h="3502523" w="13406788">
                <a:moveTo>
                  <a:pt x="0" y="0"/>
                </a:moveTo>
                <a:lnTo>
                  <a:pt x="13406788" y="0"/>
                </a:lnTo>
                <a:lnTo>
                  <a:pt x="13406788" y="3502524"/>
                </a:lnTo>
                <a:lnTo>
                  <a:pt x="0" y="3502524"/>
                </a:lnTo>
                <a:lnTo>
                  <a:pt x="0" y="0"/>
                </a:lnTo>
                <a:close/>
              </a:path>
            </a:pathLst>
          </a:custGeom>
          <a:blipFill>
            <a:blip r:embed="rId6"/>
            <a:stretch>
              <a:fillRect l="0" t="0" r="0" b="0"/>
            </a:stretch>
          </a:blipFill>
        </p:spPr>
      </p:sp>
      <p:sp>
        <p:nvSpPr>
          <p:cNvPr name="TextBox 9" id="9"/>
          <p:cNvSpPr txBox="true"/>
          <p:nvPr/>
        </p:nvSpPr>
        <p:spPr>
          <a:xfrm rot="0">
            <a:off x="1028700" y="578008"/>
            <a:ext cx="10704306" cy="1047717"/>
          </a:xfrm>
          <a:prstGeom prst="rect">
            <a:avLst/>
          </a:prstGeom>
        </p:spPr>
        <p:txBody>
          <a:bodyPr anchor="t" rtlCol="false" tIns="0" lIns="0" bIns="0" rIns="0">
            <a:spAutoFit/>
          </a:bodyPr>
          <a:lstStyle/>
          <a:p>
            <a:pPr algn="l">
              <a:lnSpc>
                <a:spcPts val="8400"/>
              </a:lnSpc>
            </a:pPr>
            <a:r>
              <a:rPr lang="en-US" sz="6000" b="true">
                <a:solidFill>
                  <a:srgbClr val="184C99"/>
                </a:solidFill>
                <a:latin typeface="Stinger Bold"/>
                <a:ea typeface="Stinger Bold"/>
                <a:cs typeface="Stinger Bold"/>
                <a:sym typeface="Stinger Bold"/>
              </a:rPr>
              <a:t>KẾT QUẢ THỰC NGHIỆM</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4466992">
            <a:off x="12956278" y="-1374835"/>
            <a:ext cx="13691661" cy="7990951"/>
          </a:xfrm>
          <a:custGeom>
            <a:avLst/>
            <a:gdLst/>
            <a:ahLst/>
            <a:cxnLst/>
            <a:rect r="r" b="b" t="t" l="l"/>
            <a:pathLst>
              <a:path h="7990951" w="13691661">
                <a:moveTo>
                  <a:pt x="0" y="0"/>
                </a:moveTo>
                <a:lnTo>
                  <a:pt x="13691661" y="0"/>
                </a:lnTo>
                <a:lnTo>
                  <a:pt x="13691661" y="7990951"/>
                </a:lnTo>
                <a:lnTo>
                  <a:pt x="0" y="7990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148668"/>
            <a:ext cx="18969026" cy="3271851"/>
            <a:chOff x="0" y="0"/>
            <a:chExt cx="4995957" cy="861722"/>
          </a:xfrm>
        </p:grpSpPr>
        <p:sp>
          <p:nvSpPr>
            <p:cNvPr name="Freeform 4" id="4"/>
            <p:cNvSpPr/>
            <p:nvPr/>
          </p:nvSpPr>
          <p:spPr>
            <a:xfrm flipH="false" flipV="false" rot="0">
              <a:off x="0" y="0"/>
              <a:ext cx="4995957" cy="861722"/>
            </a:xfrm>
            <a:custGeom>
              <a:avLst/>
              <a:gdLst/>
              <a:ahLst/>
              <a:cxnLst/>
              <a:rect r="r" b="b" t="t" l="l"/>
              <a:pathLst>
                <a:path h="861722" w="4995957">
                  <a:moveTo>
                    <a:pt x="0" y="0"/>
                  </a:moveTo>
                  <a:lnTo>
                    <a:pt x="4995957" y="0"/>
                  </a:lnTo>
                  <a:lnTo>
                    <a:pt x="4995957" y="861722"/>
                  </a:lnTo>
                  <a:lnTo>
                    <a:pt x="0" y="861722"/>
                  </a:lnTo>
                  <a:close/>
                </a:path>
              </a:pathLst>
            </a:custGeom>
            <a:solidFill>
              <a:srgbClr val="FFFFFF"/>
            </a:solidFill>
          </p:spPr>
        </p:sp>
        <p:sp>
          <p:nvSpPr>
            <p:cNvPr name="TextBox 5" id="5"/>
            <p:cNvSpPr txBox="true"/>
            <p:nvPr/>
          </p:nvSpPr>
          <p:spPr>
            <a:xfrm>
              <a:off x="0" y="-38100"/>
              <a:ext cx="4995957" cy="89982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7130403">
            <a:off x="-8285664" y="4151387"/>
            <a:ext cx="13691661" cy="7990951"/>
          </a:xfrm>
          <a:custGeom>
            <a:avLst/>
            <a:gdLst/>
            <a:ahLst/>
            <a:cxnLst/>
            <a:rect r="r" b="b" t="t" l="l"/>
            <a:pathLst>
              <a:path h="7990951" w="13691661">
                <a:moveTo>
                  <a:pt x="0" y="0"/>
                </a:moveTo>
                <a:lnTo>
                  <a:pt x="13691661" y="0"/>
                </a:lnTo>
                <a:lnTo>
                  <a:pt x="13691661" y="7990951"/>
                </a:lnTo>
                <a:lnTo>
                  <a:pt x="0" y="7990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068965" y="1625725"/>
            <a:ext cx="854383" cy="994915"/>
          </a:xfrm>
          <a:custGeom>
            <a:avLst/>
            <a:gdLst/>
            <a:ahLst/>
            <a:cxnLst/>
            <a:rect r="r" b="b" t="t" l="l"/>
            <a:pathLst>
              <a:path h="994915" w="854383">
                <a:moveTo>
                  <a:pt x="0" y="0"/>
                </a:moveTo>
                <a:lnTo>
                  <a:pt x="854383" y="0"/>
                </a:lnTo>
                <a:lnTo>
                  <a:pt x="854383" y="994915"/>
                </a:lnTo>
                <a:lnTo>
                  <a:pt x="0" y="9949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984033" y="4222898"/>
            <a:ext cx="13831081" cy="2247551"/>
          </a:xfrm>
          <a:custGeom>
            <a:avLst/>
            <a:gdLst/>
            <a:ahLst/>
            <a:cxnLst/>
            <a:rect r="r" b="b" t="t" l="l"/>
            <a:pathLst>
              <a:path h="2247551" w="13831081">
                <a:moveTo>
                  <a:pt x="0" y="0"/>
                </a:moveTo>
                <a:lnTo>
                  <a:pt x="13831081" y="0"/>
                </a:lnTo>
                <a:lnTo>
                  <a:pt x="13831081" y="2247551"/>
                </a:lnTo>
                <a:lnTo>
                  <a:pt x="0" y="2247551"/>
                </a:lnTo>
                <a:lnTo>
                  <a:pt x="0" y="0"/>
                </a:lnTo>
                <a:close/>
              </a:path>
            </a:pathLst>
          </a:custGeom>
          <a:blipFill>
            <a:blip r:embed="rId6"/>
            <a:stretch>
              <a:fillRect l="0" t="0" r="0" b="0"/>
            </a:stretch>
          </a:blipFill>
        </p:spPr>
      </p:sp>
      <p:sp>
        <p:nvSpPr>
          <p:cNvPr name="TextBox 9" id="9"/>
          <p:cNvSpPr txBox="true"/>
          <p:nvPr/>
        </p:nvSpPr>
        <p:spPr>
          <a:xfrm rot="0">
            <a:off x="1028700" y="578008"/>
            <a:ext cx="10704306" cy="1047717"/>
          </a:xfrm>
          <a:prstGeom prst="rect">
            <a:avLst/>
          </a:prstGeom>
        </p:spPr>
        <p:txBody>
          <a:bodyPr anchor="t" rtlCol="false" tIns="0" lIns="0" bIns="0" rIns="0">
            <a:spAutoFit/>
          </a:bodyPr>
          <a:lstStyle/>
          <a:p>
            <a:pPr algn="l">
              <a:lnSpc>
                <a:spcPts val="8400"/>
              </a:lnSpc>
            </a:pPr>
            <a:r>
              <a:rPr lang="en-US" sz="6000" b="true">
                <a:solidFill>
                  <a:srgbClr val="184C99"/>
                </a:solidFill>
                <a:latin typeface="Stinger Bold"/>
                <a:ea typeface="Stinger Bold"/>
                <a:cs typeface="Stinger Bold"/>
                <a:sym typeface="Stinger Bold"/>
              </a:rPr>
              <a:t>KẾT QUẢ THỰC NGHIỆM</a:t>
            </a:r>
          </a:p>
        </p:txBody>
      </p:sp>
      <p:sp>
        <p:nvSpPr>
          <p:cNvPr name="TextBox 10" id="10"/>
          <p:cNvSpPr txBox="true"/>
          <p:nvPr/>
        </p:nvSpPr>
        <p:spPr>
          <a:xfrm rot="0">
            <a:off x="1028700" y="3432322"/>
            <a:ext cx="10983351" cy="514351"/>
          </a:xfrm>
          <a:prstGeom prst="rect">
            <a:avLst/>
          </a:prstGeom>
        </p:spPr>
        <p:txBody>
          <a:bodyPr anchor="t" rtlCol="false" tIns="0" lIns="0" bIns="0" rIns="0">
            <a:spAutoFit/>
          </a:bodyPr>
          <a:lstStyle/>
          <a:p>
            <a:pPr algn="l">
              <a:lnSpc>
                <a:spcPts val="4199"/>
              </a:lnSpc>
              <a:spcBef>
                <a:spcPct val="0"/>
              </a:spcBef>
            </a:pPr>
            <a:r>
              <a:rPr lang="en-US" sz="2999">
                <a:solidFill>
                  <a:srgbClr val="FFFFFF"/>
                </a:solidFill>
                <a:latin typeface="Stinger"/>
                <a:ea typeface="Stinger"/>
                <a:cs typeface="Stinger"/>
                <a:sym typeface="Stinger"/>
              </a:rPr>
              <a:t>Terminal 3 (Peer 3 - Carol): go run hybrid_p2p_gui_chat.go Carol 8002</a:t>
            </a:r>
          </a:p>
        </p:txBody>
      </p:sp>
      <p:sp>
        <p:nvSpPr>
          <p:cNvPr name="TextBox 11" id="11"/>
          <p:cNvSpPr txBox="true"/>
          <p:nvPr/>
        </p:nvSpPr>
        <p:spPr>
          <a:xfrm rot="0">
            <a:off x="1028700" y="2534915"/>
            <a:ext cx="10704306" cy="688990"/>
          </a:xfrm>
          <a:prstGeom prst="rect">
            <a:avLst/>
          </a:prstGeom>
        </p:spPr>
        <p:txBody>
          <a:bodyPr anchor="t" rtlCol="false" tIns="0" lIns="0" bIns="0" rIns="0">
            <a:spAutoFit/>
          </a:bodyPr>
          <a:lstStyle/>
          <a:p>
            <a:pPr algn="l" marL="863611" indent="-431805" lvl="1">
              <a:lnSpc>
                <a:spcPts val="5600"/>
              </a:lnSpc>
              <a:buFont typeface="Arial"/>
              <a:buChar char="•"/>
            </a:pPr>
            <a:r>
              <a:rPr lang="en-US" b="true" sz="4000">
                <a:solidFill>
                  <a:srgbClr val="FFFFFF"/>
                </a:solidFill>
                <a:latin typeface="Stinger Bold"/>
                <a:ea typeface="Stinger Bold"/>
                <a:cs typeface="Stinger Bold"/>
                <a:sym typeface="Stinger Bold"/>
              </a:rPr>
              <a:t>TRƯỜNG HỢP MỞ RỘNG 3 PEER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C53A3"/>
        </a:solidFill>
      </p:bgPr>
    </p:bg>
    <p:spTree>
      <p:nvGrpSpPr>
        <p:cNvPr id="1" name=""/>
        <p:cNvGrpSpPr/>
        <p:nvPr/>
      </p:nvGrpSpPr>
      <p:grpSpPr>
        <a:xfrm>
          <a:off x="0" y="0"/>
          <a:ext cx="0" cy="0"/>
          <a:chOff x="0" y="0"/>
          <a:chExt cx="0" cy="0"/>
        </a:xfrm>
      </p:grpSpPr>
      <p:sp>
        <p:nvSpPr>
          <p:cNvPr name="Freeform 2" id="2"/>
          <p:cNvSpPr/>
          <p:nvPr/>
        </p:nvSpPr>
        <p:spPr>
          <a:xfrm flipH="false" flipV="false" rot="-4466992">
            <a:off x="12956278" y="-1374835"/>
            <a:ext cx="13691661" cy="7990951"/>
          </a:xfrm>
          <a:custGeom>
            <a:avLst/>
            <a:gdLst/>
            <a:ahLst/>
            <a:cxnLst/>
            <a:rect r="r" b="b" t="t" l="l"/>
            <a:pathLst>
              <a:path h="7990951" w="13691661">
                <a:moveTo>
                  <a:pt x="0" y="0"/>
                </a:moveTo>
                <a:lnTo>
                  <a:pt x="13691661" y="0"/>
                </a:lnTo>
                <a:lnTo>
                  <a:pt x="13691661" y="7990951"/>
                </a:lnTo>
                <a:lnTo>
                  <a:pt x="0" y="7990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148668"/>
            <a:ext cx="18969026" cy="3271851"/>
            <a:chOff x="0" y="0"/>
            <a:chExt cx="4995957" cy="861722"/>
          </a:xfrm>
        </p:grpSpPr>
        <p:sp>
          <p:nvSpPr>
            <p:cNvPr name="Freeform 4" id="4"/>
            <p:cNvSpPr/>
            <p:nvPr/>
          </p:nvSpPr>
          <p:spPr>
            <a:xfrm flipH="false" flipV="false" rot="0">
              <a:off x="0" y="0"/>
              <a:ext cx="4995957" cy="861722"/>
            </a:xfrm>
            <a:custGeom>
              <a:avLst/>
              <a:gdLst/>
              <a:ahLst/>
              <a:cxnLst/>
              <a:rect r="r" b="b" t="t" l="l"/>
              <a:pathLst>
                <a:path h="861722" w="4995957">
                  <a:moveTo>
                    <a:pt x="0" y="0"/>
                  </a:moveTo>
                  <a:lnTo>
                    <a:pt x="4995957" y="0"/>
                  </a:lnTo>
                  <a:lnTo>
                    <a:pt x="4995957" y="861722"/>
                  </a:lnTo>
                  <a:lnTo>
                    <a:pt x="0" y="861722"/>
                  </a:lnTo>
                  <a:close/>
                </a:path>
              </a:pathLst>
            </a:custGeom>
            <a:solidFill>
              <a:srgbClr val="FFFFFF"/>
            </a:solidFill>
          </p:spPr>
        </p:sp>
        <p:sp>
          <p:nvSpPr>
            <p:cNvPr name="TextBox 5" id="5"/>
            <p:cNvSpPr txBox="true"/>
            <p:nvPr/>
          </p:nvSpPr>
          <p:spPr>
            <a:xfrm>
              <a:off x="0" y="-38100"/>
              <a:ext cx="4995957" cy="89982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7130403">
            <a:off x="-8285664" y="4151387"/>
            <a:ext cx="13691661" cy="7990951"/>
          </a:xfrm>
          <a:custGeom>
            <a:avLst/>
            <a:gdLst/>
            <a:ahLst/>
            <a:cxnLst/>
            <a:rect r="r" b="b" t="t" l="l"/>
            <a:pathLst>
              <a:path h="7990951" w="13691661">
                <a:moveTo>
                  <a:pt x="0" y="0"/>
                </a:moveTo>
                <a:lnTo>
                  <a:pt x="13691661" y="0"/>
                </a:lnTo>
                <a:lnTo>
                  <a:pt x="13691661" y="7990951"/>
                </a:lnTo>
                <a:lnTo>
                  <a:pt x="0" y="79909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068965" y="1625725"/>
            <a:ext cx="854383" cy="994915"/>
          </a:xfrm>
          <a:custGeom>
            <a:avLst/>
            <a:gdLst/>
            <a:ahLst/>
            <a:cxnLst/>
            <a:rect r="r" b="b" t="t" l="l"/>
            <a:pathLst>
              <a:path h="994915" w="854383">
                <a:moveTo>
                  <a:pt x="0" y="0"/>
                </a:moveTo>
                <a:lnTo>
                  <a:pt x="854383" y="0"/>
                </a:lnTo>
                <a:lnTo>
                  <a:pt x="854383" y="994915"/>
                </a:lnTo>
                <a:lnTo>
                  <a:pt x="0" y="9949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106301" y="3263825"/>
            <a:ext cx="14389855" cy="3759350"/>
          </a:xfrm>
          <a:custGeom>
            <a:avLst/>
            <a:gdLst/>
            <a:ahLst/>
            <a:cxnLst/>
            <a:rect r="r" b="b" t="t" l="l"/>
            <a:pathLst>
              <a:path h="3759350" w="14389855">
                <a:moveTo>
                  <a:pt x="0" y="0"/>
                </a:moveTo>
                <a:lnTo>
                  <a:pt x="14389855" y="0"/>
                </a:lnTo>
                <a:lnTo>
                  <a:pt x="14389855" y="3759350"/>
                </a:lnTo>
                <a:lnTo>
                  <a:pt x="0" y="3759350"/>
                </a:lnTo>
                <a:lnTo>
                  <a:pt x="0" y="0"/>
                </a:lnTo>
                <a:close/>
              </a:path>
            </a:pathLst>
          </a:custGeom>
          <a:blipFill>
            <a:blip r:embed="rId6"/>
            <a:stretch>
              <a:fillRect l="0" t="0" r="0" b="0"/>
            </a:stretch>
          </a:blipFill>
        </p:spPr>
      </p:sp>
      <p:sp>
        <p:nvSpPr>
          <p:cNvPr name="TextBox 9" id="9"/>
          <p:cNvSpPr txBox="true"/>
          <p:nvPr/>
        </p:nvSpPr>
        <p:spPr>
          <a:xfrm rot="0">
            <a:off x="1028700" y="578008"/>
            <a:ext cx="10704306" cy="1047717"/>
          </a:xfrm>
          <a:prstGeom prst="rect">
            <a:avLst/>
          </a:prstGeom>
        </p:spPr>
        <p:txBody>
          <a:bodyPr anchor="t" rtlCol="false" tIns="0" lIns="0" bIns="0" rIns="0">
            <a:spAutoFit/>
          </a:bodyPr>
          <a:lstStyle/>
          <a:p>
            <a:pPr algn="l">
              <a:lnSpc>
                <a:spcPts val="8400"/>
              </a:lnSpc>
            </a:pPr>
            <a:r>
              <a:rPr lang="en-US" sz="6000" b="true">
                <a:solidFill>
                  <a:srgbClr val="184C99"/>
                </a:solidFill>
                <a:latin typeface="Stinger Bold"/>
                <a:ea typeface="Stinger Bold"/>
                <a:cs typeface="Stinger Bold"/>
                <a:sym typeface="Stinger Bold"/>
              </a:rPr>
              <a:t>KẾT QUẢ THỰC NGHIỆM</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TextBox 2" id="2"/>
          <p:cNvSpPr txBox="true"/>
          <p:nvPr/>
        </p:nvSpPr>
        <p:spPr>
          <a:xfrm rot="0">
            <a:off x="1570961" y="3654164"/>
            <a:ext cx="11759835" cy="1964471"/>
          </a:xfrm>
          <a:prstGeom prst="rect">
            <a:avLst/>
          </a:prstGeom>
        </p:spPr>
        <p:txBody>
          <a:bodyPr anchor="t" rtlCol="false" tIns="0" lIns="0" bIns="0" rIns="0">
            <a:spAutoFit/>
          </a:bodyPr>
          <a:lstStyle/>
          <a:p>
            <a:pPr algn="l">
              <a:lnSpc>
                <a:spcPts val="14900"/>
              </a:lnSpc>
            </a:pPr>
            <a:r>
              <a:rPr lang="en-US" sz="14057">
                <a:solidFill>
                  <a:srgbClr val="1C53A3"/>
                </a:solidFill>
                <a:latin typeface="Stinger"/>
                <a:ea typeface="Stinger"/>
                <a:cs typeface="Stinger"/>
                <a:sym typeface="Stinger"/>
              </a:rPr>
              <a:t>Thank You</a:t>
            </a:r>
          </a:p>
        </p:txBody>
      </p:sp>
      <p:sp>
        <p:nvSpPr>
          <p:cNvPr name="Freeform 3" id="3"/>
          <p:cNvSpPr/>
          <p:nvPr/>
        </p:nvSpPr>
        <p:spPr>
          <a:xfrm flipH="false" flipV="false" rot="0">
            <a:off x="10177573" y="2560295"/>
            <a:ext cx="14775578" cy="7898218"/>
          </a:xfrm>
          <a:custGeom>
            <a:avLst/>
            <a:gdLst/>
            <a:ahLst/>
            <a:cxnLst/>
            <a:rect r="r" b="b" t="t" l="l"/>
            <a:pathLst>
              <a:path h="7898218" w="14775578">
                <a:moveTo>
                  <a:pt x="0" y="0"/>
                </a:moveTo>
                <a:lnTo>
                  <a:pt x="14775578" y="0"/>
                </a:lnTo>
                <a:lnTo>
                  <a:pt x="14775578" y="7898218"/>
                </a:lnTo>
                <a:lnTo>
                  <a:pt x="0" y="78982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716809" y="6949522"/>
            <a:ext cx="854383" cy="994915"/>
          </a:xfrm>
          <a:custGeom>
            <a:avLst/>
            <a:gdLst/>
            <a:ahLst/>
            <a:cxnLst/>
            <a:rect r="r" b="b" t="t" l="l"/>
            <a:pathLst>
              <a:path h="994915" w="854383">
                <a:moveTo>
                  <a:pt x="0" y="0"/>
                </a:moveTo>
                <a:lnTo>
                  <a:pt x="854382" y="0"/>
                </a:lnTo>
                <a:lnTo>
                  <a:pt x="854382" y="994914"/>
                </a:lnTo>
                <a:lnTo>
                  <a:pt x="0" y="9949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476413" y="1565380"/>
            <a:ext cx="854383" cy="994915"/>
          </a:xfrm>
          <a:custGeom>
            <a:avLst/>
            <a:gdLst/>
            <a:ahLst/>
            <a:cxnLst/>
            <a:rect r="r" b="b" t="t" l="l"/>
            <a:pathLst>
              <a:path h="994915" w="854383">
                <a:moveTo>
                  <a:pt x="0" y="0"/>
                </a:moveTo>
                <a:lnTo>
                  <a:pt x="854382" y="0"/>
                </a:lnTo>
                <a:lnTo>
                  <a:pt x="854382" y="994915"/>
                </a:lnTo>
                <a:lnTo>
                  <a:pt x="0" y="9949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DAGvW6qzc64</dc:identifier>
  <dcterms:modified xsi:type="dcterms:W3CDTF">2011-08-01T06:04:30Z</dcterms:modified>
  <cp:revision>1</cp:revision>
  <dc:title>HỆ THỐNG PHÂN TÁN</dc:title>
</cp:coreProperties>
</file>